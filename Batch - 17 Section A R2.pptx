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64" r:id="rId5"/>
    <p:sldId id="302" r:id="rId6"/>
    <p:sldId id="303" r:id="rId7"/>
    <p:sldId id="304" r:id="rId8"/>
    <p:sldId id="305" r:id="rId9"/>
    <p:sldId id="306" r:id="rId10"/>
    <p:sldId id="296" r:id="rId11"/>
    <p:sldId id="311" r:id="rId12"/>
    <p:sldId id="297" r:id="rId13"/>
    <p:sldId id="308" r:id="rId14"/>
    <p:sldId id="309" r:id="rId15"/>
    <p:sldId id="310" r:id="rId16"/>
    <p:sldId id="313" r:id="rId17"/>
    <p:sldId id="314" r:id="rId18"/>
    <p:sldId id="317" r:id="rId19"/>
    <p:sldId id="318" r:id="rId20"/>
    <p:sldId id="319" r:id="rId21"/>
    <p:sldId id="320" r:id="rId22"/>
    <p:sldId id="322" r:id="rId23"/>
    <p:sldId id="323" r:id="rId24"/>
    <p:sldId id="321" r:id="rId25"/>
    <p:sldId id="324" r:id="rId26"/>
    <p:sldId id="25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5716-45AB-E8CC-B5A9-E23A0D547D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CDA6EF-CBD1-96D6-1043-2BD7163D0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610CDD-A864-DFC3-D260-D65FB89AAF8B}"/>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16BB5F08-F18A-55B9-3B2E-7FF3651EA6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7FBC49-F50A-EBED-E14D-310479E970A7}"/>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37028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BDA7-8B60-3823-A725-1E56EB5EF0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A1BA99-7EB8-6E72-E52F-D39B59014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1152E4-A383-EC63-4419-F27FE0D71278}"/>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52EB0815-888E-5EB9-1769-8C365B959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4E365A-B839-A8A5-2C40-92F406B9C36A}"/>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2214701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D727-EC7A-7F31-CCED-0D86C4ED5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0478D5-945D-9A99-C399-ECD5ED1E5E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97FD-4E55-5A2D-0DAE-BF5E183FF87E}"/>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C2F5112F-3323-BA31-D952-1C9E47912C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F7239D-F2BC-F777-C96E-0A08FE3A1B59}"/>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92180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DFA1B-5E5C-499F-2101-305A33B478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B84F41-F312-4ED3-5FAD-F72C45A7B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0FC96E-4577-CF24-521F-1F05D38A66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5B98EC-2147-41AA-7F8E-7ADF3CA89EB5}"/>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6" name="Footer Placeholder 5">
            <a:extLst>
              <a:ext uri="{FF2B5EF4-FFF2-40B4-BE49-F238E27FC236}">
                <a16:creationId xmlns:a16="http://schemas.microsoft.com/office/drawing/2014/main" id="{F3FFDA25-46B3-C15F-2117-5E9B8B6B1C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43D52F-6F2C-107D-09E4-027473590678}"/>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91722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FCC84-ED82-884D-7117-0368C4AD25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1A2FEE-F610-7CBA-C542-D3F7522C72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DA093-E660-8CC6-0A92-580059AC49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486DD-44C5-6F74-E9E8-9D882D354F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CA23B8-FB9A-3237-9B4B-09E168520C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DB1B66-328B-1F01-3B38-0501CB2BDEA4}"/>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8" name="Footer Placeholder 7">
            <a:extLst>
              <a:ext uri="{FF2B5EF4-FFF2-40B4-BE49-F238E27FC236}">
                <a16:creationId xmlns:a16="http://schemas.microsoft.com/office/drawing/2014/main" id="{76EE1BAB-ECCD-DC39-AF15-F0D53E70BC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E38526-796F-1B7D-D84B-1EE10AAFF21A}"/>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836994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B33E-ACDC-838C-4AFC-32C95E0D39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532B01-98C9-0705-6A38-04296FBFFC83}"/>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4" name="Footer Placeholder 3">
            <a:extLst>
              <a:ext uri="{FF2B5EF4-FFF2-40B4-BE49-F238E27FC236}">
                <a16:creationId xmlns:a16="http://schemas.microsoft.com/office/drawing/2014/main" id="{73DE30DF-EE01-A4A1-1E6B-B2C4536C0B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79D907-6C6B-7501-24D9-00BC8A64AFDD}"/>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546266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B701A-CE3D-8395-C5EA-32CEF2A40BBE}"/>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3" name="Footer Placeholder 2">
            <a:extLst>
              <a:ext uri="{FF2B5EF4-FFF2-40B4-BE49-F238E27FC236}">
                <a16:creationId xmlns:a16="http://schemas.microsoft.com/office/drawing/2014/main" id="{82391F30-59C5-7997-FA80-EDE895A03F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BCCADD-C6D4-46B9-A455-563658BC50B7}"/>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640905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F62F-D3AD-8DD8-592E-B7849BE63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759D56-688B-C454-9E97-8DF69A065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0BC653-0870-15B5-1EF2-F55602F97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4BFD4-B0CF-0C6E-2D58-A478F35988E7}"/>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6" name="Footer Placeholder 5">
            <a:extLst>
              <a:ext uri="{FF2B5EF4-FFF2-40B4-BE49-F238E27FC236}">
                <a16:creationId xmlns:a16="http://schemas.microsoft.com/office/drawing/2014/main" id="{CD77BC03-35D8-E38D-A367-4596B06516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161D12-B7AD-AEFB-DA47-88DA12D16FC9}"/>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4251739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A14F-B250-2BC8-0330-281CB0B2EC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6567EA-D35C-D052-B303-1AE4FBD1BE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1C0125-1617-3A00-A211-B39B89055E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EA7721-DF32-83E5-4EF2-586595FE14B5}"/>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6" name="Footer Placeholder 5">
            <a:extLst>
              <a:ext uri="{FF2B5EF4-FFF2-40B4-BE49-F238E27FC236}">
                <a16:creationId xmlns:a16="http://schemas.microsoft.com/office/drawing/2014/main" id="{18283E26-1C9F-E151-D269-0205F73AF0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988C3A-80C1-4668-D49E-1DEE10698906}"/>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302303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B0792-19F3-B742-8EF7-E8B7C5B25D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A43BB7-56B9-0845-32CE-D5CAB7078B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840964-6687-3A62-20AE-521999C1D6F0}"/>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2922850C-619D-3CA3-C265-EA180A2892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32F644-5BE9-02DA-D6EB-2B2F96B291E1}"/>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302747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16FFFD-6BFC-3EF8-B15E-30B1945E57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63C0E5-C69D-D726-664C-07227544E0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7E912C-53A2-4F31-AC54-24DABA5B408C}"/>
              </a:ext>
            </a:extLst>
          </p:cNvPr>
          <p:cNvSpPr>
            <a:spLocks noGrp="1"/>
          </p:cNvSpPr>
          <p:nvPr>
            <p:ph type="dt" sz="half" idx="10"/>
          </p:nvPr>
        </p:nvSpPr>
        <p:spPr/>
        <p:txBody>
          <a:body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6C2E4B02-8510-05B5-3924-6E05562B9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3B2F04-AC5D-12DC-3AE8-0253E8E305D2}"/>
              </a:ext>
            </a:extLst>
          </p:cNvPr>
          <p:cNvSpPr>
            <a:spLocks noGrp="1"/>
          </p:cNvSpPr>
          <p:nvPr>
            <p:ph type="sldNum" sz="quarter" idx="12"/>
          </p:nvPr>
        </p:nvSpPr>
        <p:spPr/>
        <p:txBody>
          <a:bodyPr/>
          <a:lstStyle/>
          <a:p>
            <a:fld id="{F578D775-1746-4231-A7EA-04945AB66017}" type="slidenum">
              <a:rPr lang="en-IN" smtClean="0"/>
              <a:t>‹#›</a:t>
            </a:fld>
            <a:endParaRPr lang="en-IN"/>
          </a:p>
        </p:txBody>
      </p:sp>
    </p:spTree>
    <p:extLst>
      <p:ext uri="{BB962C8B-B14F-4D97-AF65-F5344CB8AC3E}">
        <p14:creationId xmlns:p14="http://schemas.microsoft.com/office/powerpoint/2010/main" val="174232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EA0FBA-8952-AF34-5A01-CF7E524BD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C68519-66C7-90A1-37D3-FE9E76220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DE97A-0616-4746-9783-C8B1FB12F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FDB23-7D33-4A85-A4D3-95F298222533}" type="datetimeFigureOut">
              <a:rPr lang="en-IN" smtClean="0"/>
              <a:t>22-03-2026</a:t>
            </a:fld>
            <a:endParaRPr lang="en-IN"/>
          </a:p>
        </p:txBody>
      </p:sp>
      <p:sp>
        <p:nvSpPr>
          <p:cNvPr id="5" name="Footer Placeholder 4">
            <a:extLst>
              <a:ext uri="{FF2B5EF4-FFF2-40B4-BE49-F238E27FC236}">
                <a16:creationId xmlns:a16="http://schemas.microsoft.com/office/drawing/2014/main" id="{9DBDB458-2507-9DD7-32BA-17CC47843E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D628C6-16F2-0019-717D-31D9FEB72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78D775-1746-4231-A7EA-04945AB66017}" type="slidenum">
              <a:rPr lang="en-IN" smtClean="0"/>
              <a:t>‹#›</a:t>
            </a:fld>
            <a:endParaRPr lang="en-IN"/>
          </a:p>
        </p:txBody>
      </p:sp>
    </p:spTree>
    <p:extLst>
      <p:ext uri="{BB962C8B-B14F-4D97-AF65-F5344CB8AC3E}">
        <p14:creationId xmlns:p14="http://schemas.microsoft.com/office/powerpoint/2010/main" val="3461976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0.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ED9CA6FB-DE42-4BBF-B4CC-A8AA522E8B5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AE46D0-2C0D-41E8-BAE2-F3638818AEBE}"/>
              </a:ext>
            </a:extLst>
          </p:cNvPr>
          <p:cNvSpPr>
            <a:spLocks noGrp="1"/>
          </p:cNvSpPr>
          <p:nvPr>
            <p:ph type="title"/>
          </p:nvPr>
        </p:nvSpPr>
        <p:spPr>
          <a:xfrm>
            <a:off x="2907262" y="-142233"/>
            <a:ext cx="6800489" cy="2178332"/>
          </a:xfrm>
        </p:spPr>
        <p:txBody>
          <a:bodyPr rtlCol="0">
            <a:normAutofit/>
          </a:bodyPr>
          <a:lstStyle/>
          <a:p>
            <a:r>
              <a:rPr lang="en-US" sz="2800" b="1" dirty="0">
                <a:latin typeface="Times New Roman"/>
              </a:rPr>
              <a:t>CMR Technical Campus</a:t>
            </a:r>
            <a:br>
              <a:rPr lang="en-US" sz="2800" b="1" dirty="0">
                <a:latin typeface="Times New Roman"/>
              </a:rPr>
            </a:br>
            <a:r>
              <a:rPr lang="en-US" sz="2800" b="1" dirty="0">
                <a:latin typeface="Times New Roman"/>
              </a:rPr>
              <a:t>Department of Information Technology</a:t>
            </a:r>
          </a:p>
          <a:p>
            <a:endParaRPr lang="en-US" sz="4400" dirty="0"/>
          </a:p>
        </p:txBody>
      </p:sp>
      <p:pic>
        <p:nvPicPr>
          <p:cNvPr id="3" name="Picture 7" descr="A logo with a flower&#10;&#10;Description automatically generated">
            <a:extLst>
              <a:ext uri="{4D361329-0F30-4A96-88F2-EE23789D81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453887" y="196690"/>
            <a:ext cx="1961896" cy="1701172"/>
          </a:xfrm>
          <a:prstGeom prst="rect">
            <a:avLst/>
          </a:prstGeom>
          <a:noFill/>
        </p:spPr>
      </p:pic>
      <p:sp>
        <p:nvSpPr>
          <p:cNvPr id="4" name="TextBox 8">
            <a:extLst>
              <a:ext uri="{2A500AD5-FA03-4398-9DFF-C747D18F3A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CBB913-720E-4E53-B62B-E5FBE86EE078}"/>
              </a:ext>
            </a:extLst>
          </p:cNvPr>
          <p:cNvSpPr txBox="1"/>
          <p:nvPr/>
        </p:nvSpPr>
        <p:spPr>
          <a:xfrm>
            <a:off x="3886200" y="1436197"/>
            <a:ext cx="5111152" cy="461665"/>
          </a:xfrm>
          <a:prstGeom prst="rect">
            <a:avLst/>
          </a:prstGeom>
          <a:noFill/>
        </p:spPr>
        <p:txBody>
          <a:bodyPr vert="horz" wrap="square" lIns="91440" tIns="45720" rIns="91440" bIns="45720" numCol="1" spcCol="0" rtlCol="0" anchor="t">
            <a:spAutoFit/>
          </a:bodyPr>
          <a:lstStyle/>
          <a:p>
            <a:r>
              <a:rPr lang="en-US" sz="2400" b="1" dirty="0">
                <a:latin typeface="Times New Roman"/>
              </a:rPr>
              <a:t>Major Project Stage – 2 Review - 2</a:t>
            </a:r>
          </a:p>
        </p:txBody>
      </p:sp>
      <p:sp>
        <p:nvSpPr>
          <p:cNvPr id="5" name="TextBox 9">
            <a:extLst>
              <a:ext uri="{4F53AC70-5DEA-4B5D-8934-E99555E63DE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2025FF-B4C6-4B50-918B-E847E7570A2F}"/>
              </a:ext>
            </a:extLst>
          </p:cNvPr>
          <p:cNvSpPr txBox="1"/>
          <p:nvPr/>
        </p:nvSpPr>
        <p:spPr>
          <a:xfrm>
            <a:off x="291701" y="2530181"/>
            <a:ext cx="11608597" cy="400110"/>
          </a:xfrm>
          <a:prstGeom prst="rect">
            <a:avLst/>
          </a:prstGeom>
          <a:noFill/>
        </p:spPr>
        <p:txBody>
          <a:bodyPr vert="horz" wrap="square" lIns="91440" tIns="45720" rIns="91440" bIns="45720" numCol="1" spcCol="0" rtlCol="0" anchor="t">
            <a:spAutoFit/>
          </a:bodyPr>
          <a:lstStyle/>
          <a:p>
            <a:pPr algn="ctr"/>
            <a:r>
              <a:rPr lang="en-US" sz="2000" b="1" u="sng" dirty="0">
                <a:latin typeface="Times New Roman" panose="02020603050405020304" pitchFamily="18" charset="0"/>
                <a:cs typeface="Times New Roman" panose="02020603050405020304" pitchFamily="18" charset="0"/>
              </a:rPr>
              <a:t>Project Title</a:t>
            </a:r>
            <a:r>
              <a:rPr lang="en-US" sz="2000" b="1" dirty="0">
                <a:latin typeface="Times New Roman" panose="02020603050405020304" pitchFamily="18" charset="0"/>
                <a:cs typeface="Times New Roman" panose="02020603050405020304" pitchFamily="18" charset="0"/>
              </a:rPr>
              <a:t>: Multimodal Analysis of Hate Speech Detection in Memes </a:t>
            </a:r>
            <a:r>
              <a:rPr lang="en-US" sz="2000" b="1">
                <a:latin typeface="Times New Roman" panose="02020603050405020304" pitchFamily="18" charset="0"/>
                <a:cs typeface="Times New Roman" panose="02020603050405020304" pitchFamily="18" charset="0"/>
              </a:rPr>
              <a:t>using Meme </a:t>
            </a:r>
            <a:r>
              <a:rPr lang="en-US" sz="2000" b="1" dirty="0">
                <a:latin typeface="Times New Roman" panose="02020603050405020304" pitchFamily="18" charset="0"/>
                <a:cs typeface="Times New Roman" panose="02020603050405020304" pitchFamily="18" charset="0"/>
              </a:rPr>
              <a:t>S</a:t>
            </a:r>
            <a:r>
              <a:rPr lang="en-US" sz="2000" b="1">
                <a:latin typeface="Times New Roman" panose="02020603050405020304" pitchFamily="18" charset="0"/>
                <a:cs typeface="Times New Roman" panose="02020603050405020304" pitchFamily="18" charset="0"/>
              </a:rPr>
              <a:t>entinel-XT</a:t>
            </a:r>
            <a:endParaRPr lang="en-US" sz="2000" b="1" dirty="0">
              <a:latin typeface="Times New Roman" panose="02020603050405020304" pitchFamily="18" charset="0"/>
              <a:cs typeface="Times New Roman" panose="02020603050405020304" pitchFamily="18" charset="0"/>
            </a:endParaRPr>
          </a:p>
        </p:txBody>
      </p:sp>
      <p:sp>
        <p:nvSpPr>
          <p:cNvPr id="6" name="TextBox 10">
            <a:extLst>
              <a:ext uri="{CD55773D-57A6-4083-8720-960C80B43B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C915C5-87DA-4BCF-A7B4-630F42D4A5E5}"/>
              </a:ext>
            </a:extLst>
          </p:cNvPr>
          <p:cNvSpPr txBox="1"/>
          <p:nvPr/>
        </p:nvSpPr>
        <p:spPr>
          <a:xfrm>
            <a:off x="396816" y="3726981"/>
            <a:ext cx="4316998" cy="1015663"/>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Project Supervisor:</a:t>
            </a:r>
            <a:r>
              <a:rPr lang="en-US" sz="2000" dirty="0">
                <a:latin typeface="Times New Roman"/>
              </a:rPr>
              <a:t>​</a:t>
            </a:r>
          </a:p>
          <a:p>
            <a:r>
              <a:rPr lang="en-US" sz="2000" b="1" dirty="0">
                <a:solidFill>
                  <a:srgbClr val="002060"/>
                </a:solidFill>
                <a:latin typeface="Times New Roman"/>
              </a:rPr>
              <a:t>Name:</a:t>
            </a:r>
            <a:r>
              <a:rPr lang="en-US" sz="2000" dirty="0">
                <a:latin typeface="Times New Roman"/>
              </a:rPr>
              <a:t>​  M. Ramesh Babu</a:t>
            </a:r>
          </a:p>
          <a:p>
            <a:r>
              <a:rPr lang="en-US" sz="2000" b="1" dirty="0">
                <a:solidFill>
                  <a:srgbClr val="002060"/>
                </a:solidFill>
                <a:latin typeface="Times New Roman"/>
              </a:rPr>
              <a:t>Designation:</a:t>
            </a:r>
            <a:r>
              <a:rPr lang="en-US" sz="2000" dirty="0">
                <a:solidFill>
                  <a:srgbClr val="002060"/>
                </a:solidFill>
                <a:latin typeface="Times New Roman"/>
              </a:rPr>
              <a:t> </a:t>
            </a:r>
            <a:r>
              <a:rPr lang="en-US" sz="2000" dirty="0">
                <a:latin typeface="Times New Roman" panose="02020603050405020304" pitchFamily="18" charset="0"/>
                <a:cs typeface="Times New Roman" panose="02020603050405020304" pitchFamily="18" charset="0"/>
              </a:rPr>
              <a:t>Assistant Professor</a:t>
            </a:r>
            <a:endParaRPr lang="en-US" dirty="0">
              <a:solidFill>
                <a:srgbClr val="002060"/>
              </a:solidFill>
              <a:latin typeface="Times New Roman"/>
            </a:endParaRPr>
          </a:p>
        </p:txBody>
      </p:sp>
      <p:sp>
        <p:nvSpPr>
          <p:cNvPr id="7" name="TextBox 1">
            <a:extLst>
              <a:ext uri="{27677EEE-2C43-4AEE-A1AA-F0A7D37C0AE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D04DD5-17EA-4D4F-854B-FE67B484A46C}"/>
              </a:ext>
            </a:extLst>
          </p:cNvPr>
          <p:cNvSpPr txBox="1"/>
          <p:nvPr/>
        </p:nvSpPr>
        <p:spPr>
          <a:xfrm>
            <a:off x="5334000" y="3726981"/>
            <a:ext cx="6461184" cy="1938992"/>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Presented By:</a:t>
            </a:r>
            <a:r>
              <a:rPr lang="en-US" sz="2000" dirty="0">
                <a:latin typeface="Times New Roman"/>
              </a:rPr>
              <a:t>​</a:t>
            </a:r>
          </a:p>
          <a:p>
            <a:r>
              <a:rPr lang="en-US" sz="2000" b="1" dirty="0">
                <a:latin typeface="Times New Roman"/>
              </a:rPr>
              <a:t>Batch No: 17</a:t>
            </a:r>
            <a:endParaRPr lang="en-US" sz="2000" dirty="0">
              <a:latin typeface="Times New Roman"/>
            </a:endParaRPr>
          </a:p>
          <a:p>
            <a:pPr marL="342900" indent="-342900">
              <a:buFont typeface=""/>
              <a:buAutoNum type="arabicPeriod"/>
            </a:pPr>
            <a:r>
              <a:rPr lang="en-US" sz="2000" dirty="0">
                <a:latin typeface="Times New Roman"/>
              </a:rPr>
              <a:t>H. No: 237R5A1203                Name: B. Shivaram</a:t>
            </a:r>
          </a:p>
          <a:p>
            <a:pPr marL="342900" indent="-342900">
              <a:buFont typeface=""/>
              <a:buAutoNum type="arabicPeriod"/>
            </a:pPr>
            <a:r>
              <a:rPr lang="en-US" sz="2000" dirty="0">
                <a:latin typeface="Times New Roman"/>
              </a:rPr>
              <a:t>H. No: 227R1A1241                Name: Mohammed Parvez</a:t>
            </a:r>
          </a:p>
          <a:p>
            <a:pPr marL="342900" indent="-342900">
              <a:buFont typeface=""/>
              <a:buAutoNum type="arabicPeriod"/>
            </a:pPr>
            <a:r>
              <a:rPr lang="en-US" sz="2000" dirty="0">
                <a:latin typeface="Times New Roman"/>
              </a:rPr>
              <a:t>H. No: 227R1A1209                Name: A. Anil</a:t>
            </a:r>
          </a:p>
          <a:p>
            <a:endParaRPr lang="en-US" sz="2000" dirty="0">
              <a:latin typeface="Times New Roman"/>
            </a:endParaRPr>
          </a:p>
        </p:txBody>
      </p:sp>
      <p:cxnSp>
        <p:nvCxnSpPr>
          <p:cNvPr id="10" name="Straight Connector 9">
            <a:extLst>
              <a:ext uri="{FF2B5EF4-FFF2-40B4-BE49-F238E27FC236}">
                <a16:creationId xmlns:a16="http://schemas.microsoft.com/office/drawing/2014/main" id="{507099C1-FB4F-E586-E7C9-A2E4C2BD8134}"/>
              </a:ext>
            </a:extLst>
          </p:cNvPr>
          <p:cNvCxnSpPr>
            <a:cxnSpLocks/>
          </p:cNvCxnSpPr>
          <p:nvPr/>
        </p:nvCxnSpPr>
        <p:spPr>
          <a:xfrm>
            <a:off x="0" y="2133600"/>
            <a:ext cx="12192000"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5C917A-3597-451A-80EB-D4E351436A6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8A010AAA-3BC9-467C-9EDE-E1DDB94953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574B09-CB82-4FBE-9900-09375FF6D4B6}"/>
              </a:ext>
            </a:extLst>
          </p:cNvPr>
          <p:cNvSpPr>
            <a:spLocks noGrp="1"/>
          </p:cNvSpPr>
          <p:nvPr>
            <p:ph type="title"/>
          </p:nvPr>
        </p:nvSpPr>
        <p:spPr>
          <a:xfrm>
            <a:off x="838200" y="108155"/>
            <a:ext cx="10515600" cy="953729"/>
          </a:xfrm>
        </p:spPr>
        <p:txBody>
          <a:bodyPr rtlCol="0">
            <a:normAutofit/>
          </a:bodyPr>
          <a:lstStyle/>
          <a:p>
            <a:r>
              <a:rPr lang="en-US" b="1" dirty="0">
                <a:latin typeface="Times New Roman"/>
              </a:rPr>
              <a:t>Index</a:t>
            </a:r>
          </a:p>
        </p:txBody>
      </p:sp>
      <p:pic>
        <p:nvPicPr>
          <p:cNvPr id="3" name="Content Placeholder 3" descr="A logo with a flower&#10;&#10;Description automatically generated">
            <a:extLst>
              <a:ext uri="{48B47300-C04B-465C-B97B-4EC5B42E1C9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F0F8C0E-DA55-4C2D-867E-6EE4CDEAE5CB}"/>
              </a:ext>
            </a:extLst>
          </p:cNvPr>
          <p:cNvPicPr>
            <a:picLocks noGrp="1" noChangeAspect="1"/>
          </p:cNvPicPr>
          <p:nvPr>
            <p:ph idx="1"/>
          </p:nvPr>
        </p:nvPicPr>
        <p:blipFill>
          <a:blip r:embed="rId2"/>
          <a:stretch>
            <a:fillRect/>
          </a:stretch>
        </p:blipFill>
        <p:spPr>
          <a:xfrm>
            <a:off x="10714935" y="0"/>
            <a:ext cx="1477065" cy="1251225"/>
          </a:xfrm>
          <a:noFill/>
        </p:spPr>
      </p:pic>
      <p:sp>
        <p:nvSpPr>
          <p:cNvPr id="4" name="TextBox 4">
            <a:extLst>
              <a:ext uri="{ADF364D0-11AE-4F37-BE70-5377F01BE3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D9D21-7056-4C17-8E22-B57420FC5909}"/>
              </a:ext>
            </a:extLst>
          </p:cNvPr>
          <p:cNvSpPr txBox="1"/>
          <p:nvPr/>
        </p:nvSpPr>
        <p:spPr>
          <a:xfrm>
            <a:off x="838200" y="1117534"/>
            <a:ext cx="10149580" cy="5632311"/>
          </a:xfrm>
          <a:prstGeom prst="rect">
            <a:avLst/>
          </a:prstGeom>
          <a:noFill/>
        </p:spPr>
        <p:txBody>
          <a:bodyPr vert="horz" wrap="square" lIns="91440" tIns="45720" rIns="91440" bIns="45720" numCol="1" spcCol="0" rtlCol="0" anchor="t">
            <a:spAutoFit/>
          </a:bodyPr>
          <a:lstStyle/>
          <a:p>
            <a:pPr marL="228600" indent="-228600">
              <a:buFont typeface=""/>
              <a:buChar char="•"/>
            </a:pPr>
            <a:r>
              <a:rPr lang="en-IN" sz="2400" dirty="0">
                <a:latin typeface="Times New Roman" panose="02020603050405020304" pitchFamily="18" charset="0"/>
                <a:cs typeface="Times New Roman" panose="02020603050405020304" pitchFamily="18" charset="0"/>
              </a:rPr>
              <a:t>Introduction and Overview</a:t>
            </a:r>
          </a:p>
          <a:p>
            <a:pPr marL="228600" indent="-228600">
              <a:buFont typeface=""/>
              <a:buChar char="•"/>
            </a:pPr>
            <a:r>
              <a:rPr lang="en-IN" sz="2400"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Disadvantages of 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Advantages of 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sz="2400"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sz="2400" dirty="0">
                <a:latin typeface="Times New Roman" panose="02020603050405020304" pitchFamily="18" charset="0"/>
                <a:cs typeface="Times New Roman" panose="02020603050405020304" pitchFamily="18" charset="0"/>
              </a:rPr>
              <a:t>System Architecture </a:t>
            </a:r>
          </a:p>
          <a:p>
            <a:pPr marL="228600" indent="-228600">
              <a:buFont typeface=""/>
              <a:buChar char="•"/>
            </a:pPr>
            <a:r>
              <a:rPr lang="en-IN" sz="2400" dirty="0">
                <a:latin typeface="Times New Roman" panose="02020603050405020304" pitchFamily="18" charset="0"/>
                <a:cs typeface="Times New Roman" panose="02020603050405020304" pitchFamily="18" charset="0"/>
              </a:rPr>
              <a:t>Modules </a:t>
            </a:r>
          </a:p>
          <a:p>
            <a:pPr marL="228600" indent="-228600">
              <a:buFont typeface=""/>
              <a:buChar char="•"/>
            </a:pPr>
            <a:r>
              <a:rPr lang="en-IN" sz="2400" dirty="0">
                <a:latin typeface="Times New Roman" panose="02020603050405020304" pitchFamily="18" charset="0"/>
                <a:cs typeface="Times New Roman" panose="02020603050405020304" pitchFamily="18" charset="0"/>
              </a:rPr>
              <a:t>UML Diagrams</a:t>
            </a:r>
          </a:p>
          <a:p>
            <a:pPr marL="228600" indent="-228600">
              <a:buFont typeface=""/>
              <a:buChar char="•"/>
            </a:pPr>
            <a:r>
              <a:rPr lang="en-IN" sz="2400" dirty="0">
                <a:latin typeface="Times New Roman" panose="02020603050405020304" pitchFamily="18" charset="0"/>
                <a:cs typeface="Times New Roman" panose="02020603050405020304" pitchFamily="18" charset="0"/>
              </a:rPr>
              <a:t>Source Code</a:t>
            </a:r>
          </a:p>
          <a:p>
            <a:pPr marL="228600" indent="-228600">
              <a:buFont typeface=""/>
              <a:buChar char="•"/>
            </a:pPr>
            <a:r>
              <a:rPr lang="en-IN" sz="2400" dirty="0">
                <a:latin typeface="Times New Roman" panose="02020603050405020304" pitchFamily="18" charset="0"/>
                <a:cs typeface="Times New Roman" panose="02020603050405020304" pitchFamily="18" charset="0"/>
              </a:rPr>
              <a:t>Results</a:t>
            </a:r>
          </a:p>
          <a:p>
            <a:pPr marL="228600" indent="-228600">
              <a:buFont typeface=""/>
              <a:buChar char="•"/>
            </a:pPr>
            <a:r>
              <a:rPr lang="en-IN" sz="2400" dirty="0">
                <a:latin typeface="Times New Roman" panose="02020603050405020304" pitchFamily="18" charset="0"/>
                <a:cs typeface="Times New Roman" panose="02020603050405020304" pitchFamily="18" charset="0"/>
              </a:rPr>
              <a:t>Conclusion and Future Enhancements</a:t>
            </a:r>
          </a:p>
          <a:p>
            <a:pPr marL="228600" indent="-228600">
              <a:buFont typeface=""/>
              <a:buChar char="•"/>
            </a:pPr>
            <a:r>
              <a:rPr lang="en-IN" sz="2400" dirty="0">
                <a:latin typeface="Times New Roman" panose="02020603050405020304" pitchFamily="18" charset="0"/>
                <a:cs typeface="Times New Roman" panose="02020603050405020304" pitchFamily="18" charset="0"/>
              </a:rPr>
              <a:t>References</a:t>
            </a:r>
          </a:p>
          <a:p>
            <a:pPr marL="228600" indent="-228600">
              <a:buFont typeface=""/>
              <a:buChar char="•"/>
            </a:pPr>
            <a:r>
              <a:rPr lang="en-IN" sz="2400" dirty="0">
                <a:latin typeface="Times New Roman" panose="02020603050405020304" pitchFamily="18" charset="0"/>
                <a:cs typeface="Times New Roman" panose="02020603050405020304" pitchFamily="18" charset="0"/>
              </a:rPr>
              <a:t>GitHub Link</a:t>
            </a:r>
          </a:p>
        </p:txBody>
      </p:sp>
    </p:spTree>
    <p:extLst>
      <p:ext uri="{0561CC85-A534-4E96-A9C6-0329ECF585B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A277E54-58E9-49F5-80C7-741F541580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71269BA-A2DE-4CA4-82B2-716B0B897011}"/>
              </a:ext>
            </a:extLst>
          </p:cNvPr>
          <p:cNvSpPr>
            <a:spLocks noGrp="1"/>
          </p:cNvSpPr>
          <p:nvPr>
            <p:ph type="title"/>
          </p:nvPr>
        </p:nvSpPr>
        <p:spPr>
          <a:xfrm>
            <a:off x="381000" y="304800"/>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Introduction &amp; Overview</a:t>
            </a:r>
          </a:p>
        </p:txBody>
      </p:sp>
      <p:pic>
        <p:nvPicPr>
          <p:cNvPr id="4" name="Picture 3" descr="A logo with a flower&#10;&#10;Description automatically generated">
            <a:extLst>
              <a:ext uri="{93949CE7-2A42-42B0-B202-78F8FB2E06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C88C13-8C45-4BF0-90D2-FCE813201090}"/>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3" name="Rectangle 1">
            <a:extLst>
              <a:ext uri="{FF2B5EF4-FFF2-40B4-BE49-F238E27FC236}">
                <a16:creationId xmlns:a16="http://schemas.microsoft.com/office/drawing/2014/main" id="{0136E4EA-5673-E33B-09CA-951548928AD6}"/>
              </a:ext>
            </a:extLst>
          </p:cNvPr>
          <p:cNvSpPr>
            <a:spLocks noChangeArrowheads="1"/>
          </p:cNvSpPr>
          <p:nvPr/>
        </p:nvSpPr>
        <p:spPr bwMode="auto">
          <a:xfrm>
            <a:off x="688259" y="1481364"/>
            <a:ext cx="1063121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This project focuses on developing an automated system to detect hate speech in internet memes using multimodal deep learning techniques, with the aim of reducing manual moderation effort and improving content safety on social media platforms.</a:t>
            </a:r>
          </a:p>
          <a:p>
            <a:pPr marL="342900" lvl="0" indent="-342900" eaLnBrk="0" fontAlgn="base" hangingPunct="0">
              <a:spcBef>
                <a:spcPct val="0"/>
              </a:spcBef>
              <a:spcAft>
                <a:spcPct val="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proposed system analyzes both the image and embedded text in memes by using Vision Transformer (</a:t>
            </a:r>
            <a:r>
              <a:rPr lang="en-US" altLang="en-US" sz="2400" dirty="0" err="1">
                <a:latin typeface="Times New Roman" panose="02020603050405020304" pitchFamily="18" charset="0"/>
                <a:cs typeface="Times New Roman" panose="02020603050405020304" pitchFamily="18" charset="0"/>
              </a:rPr>
              <a:t>ViT</a:t>
            </a:r>
            <a:r>
              <a:rPr lang="en-US" altLang="en-US" sz="2400" dirty="0">
                <a:latin typeface="Times New Roman" panose="02020603050405020304" pitchFamily="18" charset="0"/>
                <a:cs typeface="Times New Roman" panose="02020603050405020304" pitchFamily="18" charset="0"/>
              </a:rPr>
              <a:t>) for visual feature extraction and </a:t>
            </a:r>
            <a:r>
              <a:rPr lang="en-US" altLang="en-US" sz="2400" dirty="0" err="1">
                <a:latin typeface="Times New Roman" panose="02020603050405020304" pitchFamily="18" charset="0"/>
                <a:cs typeface="Times New Roman" panose="02020603050405020304" pitchFamily="18" charset="0"/>
              </a:rPr>
              <a:t>XLNet</a:t>
            </a:r>
            <a:r>
              <a:rPr lang="en-US" altLang="en-US" sz="2400" dirty="0">
                <a:latin typeface="Times New Roman" panose="02020603050405020304" pitchFamily="18" charset="0"/>
                <a:cs typeface="Times New Roman" panose="02020603050405020304" pitchFamily="18" charset="0"/>
              </a:rPr>
              <a:t> for understanding textual context, enabling accurate identification of offensive and hateful content.</a:t>
            </a:r>
          </a:p>
          <a:p>
            <a:pPr marL="342900" lvl="0" indent="-342900" eaLnBrk="0" fontAlgn="base" hangingPunct="0">
              <a:spcBef>
                <a:spcPct val="0"/>
              </a:spcBef>
              <a:spcAft>
                <a:spcPct val="0"/>
              </a:spcAf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can be effectively used by social media platforms, content moderation teams, and online communities to provide a fast, accurate, and scalable solution for detecting hate speech in meme-based content.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E0E1AE6-920D-425F-A29A-D6A50D915E9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C3A153DB-FDE9-2E33-01AA-FFAD74DFC16E}"/>
              </a:ext>
            </a:extLst>
          </p:cNvPr>
          <p:cNvSpPr>
            <a:spLocks noChangeArrowheads="1"/>
          </p:cNvSpPr>
          <p:nvPr/>
        </p:nvSpPr>
        <p:spPr bwMode="auto">
          <a:xfrm>
            <a:off x="374511" y="1595021"/>
            <a:ext cx="110941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Manual Content Moderation:</a:t>
            </a:r>
          </a:p>
          <a:p>
            <a:pPr lvl="1"/>
            <a:r>
              <a:rPr lang="en-US" sz="2400" dirty="0">
                <a:latin typeface="Times New Roman" panose="02020603050405020304" pitchFamily="18" charset="0"/>
                <a:cs typeface="Times New Roman" panose="02020603050405020304" pitchFamily="18" charset="0"/>
              </a:rPr>
              <a:t>The existing system depends on human reviewers who manually examine memes by looking at images and reading the text to identify hateful or offensive content.</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Text-Based Detection:</a:t>
            </a:r>
          </a:p>
          <a:p>
            <a:pPr lvl="1"/>
            <a:r>
              <a:rPr lang="en-US" sz="2400" dirty="0">
                <a:latin typeface="Times New Roman" panose="02020603050405020304" pitchFamily="18" charset="0"/>
                <a:cs typeface="Times New Roman" panose="02020603050405020304" pitchFamily="18" charset="0"/>
              </a:rPr>
              <a:t>Most automated systems analyze only the textual part of memes and ignore visual information, which results in poor understanding of the actual message.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Example :</a:t>
            </a:r>
          </a:p>
          <a:p>
            <a:pPr lvl="1"/>
            <a:r>
              <a:rPr lang="en-US" sz="2400" dirty="0">
                <a:latin typeface="Times New Roman" panose="02020603050405020304" pitchFamily="18" charset="0"/>
                <a:cs typeface="Times New Roman" panose="02020603050405020304" pitchFamily="18" charset="0"/>
              </a:rPr>
              <a:t>Platforms like Facebook (Meta), Instagram, Twitter (X), and Reddit already use automated content moderation systems to detect:</a:t>
            </a:r>
          </a:p>
          <a:p>
            <a:pPr lvl="1"/>
            <a:r>
              <a:rPr lang="en-US" sz="2400" dirty="0">
                <a:latin typeface="Times New Roman" panose="02020603050405020304" pitchFamily="18" charset="0"/>
                <a:cs typeface="Times New Roman" panose="02020603050405020304" pitchFamily="18" charset="0"/>
              </a:rPr>
              <a:t>Hate speech, Offensive language, Harassment, and Harmful visual content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53700-F877-44CC-C391-B189452E6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3B6A7-79A6-A461-1FC2-03F1E806AF89}"/>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 Disadvantages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AA09D5C-50F5-69B1-9FA4-3535A648FF85}"/>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721F3AD6-8FA8-A934-B4E3-A9C16C253468}"/>
              </a:ext>
            </a:extLst>
          </p:cNvPr>
          <p:cNvSpPr>
            <a:spLocks noChangeArrowheads="1"/>
          </p:cNvSpPr>
          <p:nvPr/>
        </p:nvSpPr>
        <p:spPr bwMode="auto">
          <a:xfrm>
            <a:off x="614516" y="2059421"/>
            <a:ext cx="105156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Text-based systems fail to understand images, symbols, and gestures that change the meaning of meme content.</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Hateful memes with neutral text are often missed, leading to false negatives and poor detection accuracy.</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Human moderation is slow, costly, and depends on personal judgment, causing inconsistency and bias.</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cannot handle the large and fast-growing volume of memes shared on social media platforms.</a:t>
            </a:r>
          </a:p>
          <a:p>
            <a:pPr marL="360000" lvl="0" indent="-342900" algn="just" eaLnBrk="0" fontAlgn="base" hangingPunct="0">
              <a:spcBef>
                <a:spcPct val="0"/>
              </a:spcBef>
              <a:spcAft>
                <a:spcPts val="60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Existing systems struggle with sarcasm, cultural references, and implicit hate present in memes.</a:t>
            </a:r>
          </a:p>
        </p:txBody>
      </p:sp>
    </p:spTree>
    <p:extLst>
      <p:ext uri="{BB962C8B-B14F-4D97-AF65-F5344CB8AC3E}">
        <p14:creationId xmlns:p14="http://schemas.microsoft.com/office/powerpoint/2010/main" val="998496918"/>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D56C-2E2A-4290-E792-C5515924F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EFCCF-93C8-46E9-1455-5A296F470121}"/>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7393F10-DD0E-ABA2-27C1-BCC779A3EB2E}"/>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1230D8B-BD6A-1E93-5DD1-4F9299149BFF}"/>
              </a:ext>
            </a:extLst>
          </p:cNvPr>
          <p:cNvSpPr>
            <a:spLocks noChangeArrowheads="1"/>
          </p:cNvSpPr>
          <p:nvPr/>
        </p:nvSpPr>
        <p:spPr bwMode="auto">
          <a:xfrm>
            <a:off x="619432" y="2024620"/>
            <a:ext cx="1113994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introduces </a:t>
            </a:r>
            <a:r>
              <a:rPr lang="en-US" sz="2400" dirty="0" err="1">
                <a:latin typeface="Times New Roman" panose="02020603050405020304" pitchFamily="18" charset="0"/>
                <a:cs typeface="Times New Roman" panose="02020603050405020304" pitchFamily="18" charset="0"/>
              </a:rPr>
              <a:t>MemeSentinel</a:t>
            </a:r>
            <a:r>
              <a:rPr lang="en-US" sz="2400" dirty="0">
                <a:latin typeface="Times New Roman" panose="02020603050405020304" pitchFamily="18" charset="0"/>
                <a:cs typeface="Times New Roman" panose="02020603050405020304" pitchFamily="18" charset="0"/>
              </a:rPr>
              <a:t>-XT, an automated multimodal hate speech detection system that analyzes both the image and text present in memes.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uses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to extract visual features from meme images and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to understand the meaning and context of embedded text.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combining image and text features through a multimodal fusion and classification framework, the system accurately identifies hateful and offensive memes.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approach provides a fast, scalable, and reliable solution suitable for real-time content moderation on social media platforms.</a:t>
            </a:r>
          </a:p>
        </p:txBody>
      </p:sp>
    </p:spTree>
    <p:extLst>
      <p:ext uri="{BB962C8B-B14F-4D97-AF65-F5344CB8AC3E}">
        <p14:creationId xmlns:p14="http://schemas.microsoft.com/office/powerpoint/2010/main" val="3435687415"/>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6A0E-9F38-3CDB-CBB8-23D5F767A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34498-F0E1-3391-C5DC-752D09C87815}"/>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 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55CAF50-C5DD-C868-8B1B-5CB3C76F7A59}"/>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03AE6B21-577E-0B6F-8229-7CA460BE0C9A}"/>
              </a:ext>
            </a:extLst>
          </p:cNvPr>
          <p:cNvSpPr>
            <a:spLocks noChangeArrowheads="1"/>
          </p:cNvSpPr>
          <p:nvPr/>
        </p:nvSpPr>
        <p:spPr bwMode="auto">
          <a:xfrm>
            <a:off x="755073" y="2023738"/>
            <a:ext cx="104463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Multimodal Analysis - </a:t>
            </a:r>
            <a:r>
              <a:rPr lang="en-US" sz="2400" dirty="0">
                <a:latin typeface="Times New Roman" panose="02020603050405020304" pitchFamily="18" charset="0"/>
                <a:cs typeface="Times New Roman" panose="02020603050405020304" pitchFamily="18" charset="0"/>
              </a:rPr>
              <a:t>The system analyzes both image and text, providing better understanding of meme content.</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Higher Accuracy - </a:t>
            </a:r>
            <a:r>
              <a:rPr lang="en-US" sz="2400" dirty="0">
                <a:latin typeface="Times New Roman" panose="02020603050405020304" pitchFamily="18" charset="0"/>
                <a:cs typeface="Times New Roman" panose="02020603050405020304" pitchFamily="18" charset="0"/>
              </a:rPr>
              <a:t>Combining visual and textual features reduces false detection and improves classification accuracy.</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Handles Hidden Hate - </a:t>
            </a:r>
            <a:r>
              <a:rPr lang="en-US" sz="2400" dirty="0">
                <a:latin typeface="Times New Roman" panose="02020603050405020304" pitchFamily="18" charset="0"/>
                <a:cs typeface="Times New Roman" panose="02020603050405020304" pitchFamily="18" charset="0"/>
              </a:rPr>
              <a:t>Effectively detects implicit, sarcastic, and context-based hate speech in memes.</a:t>
            </a:r>
          </a:p>
          <a:p>
            <a:pPr marL="342900" indent="-34290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Reduced Human Effort - </a:t>
            </a:r>
            <a:r>
              <a:rPr lang="en-US" sz="2400" dirty="0">
                <a:latin typeface="Times New Roman" panose="02020603050405020304" pitchFamily="18" charset="0"/>
                <a:cs typeface="Times New Roman" panose="02020603050405020304" pitchFamily="18" charset="0"/>
              </a:rPr>
              <a:t>Minimizes the need for manual moderation and ensures consistent decision-making.</a:t>
            </a:r>
          </a:p>
        </p:txBody>
      </p:sp>
    </p:spTree>
    <p:extLst>
      <p:ext uri="{BB962C8B-B14F-4D97-AF65-F5344CB8AC3E}">
        <p14:creationId xmlns:p14="http://schemas.microsoft.com/office/powerpoint/2010/main" val="1837795224"/>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345C-0C85-ED26-DB51-A3570577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F50F-D8D8-F750-3EC2-877D69A9314D}"/>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normAutofit/>
          </a:bodyPr>
          <a:lstStyle/>
          <a:p>
            <a:pPr algn="ctr"/>
            <a:r>
              <a:rPr lang="en-US" sz="4000" b="1" dirty="0">
                <a:effectLst>
                  <a:outerShdw blurRad="38100" dist="38100" dir="2700000" algn="tl">
                    <a:srgbClr val="000000">
                      <a:alpha val="43137"/>
                    </a:srgbClr>
                  </a:outerShdw>
                </a:effectLst>
                <a:latin typeface="Times New Roman"/>
              </a:rPr>
              <a:t>Hardware and Software Requirements</a:t>
            </a:r>
            <a:br>
              <a:rPr lang="en-US" sz="4000" dirty="0">
                <a:effectLst>
                  <a:outerShdw blurRad="38100" dist="38100" dir="2700000" algn="tl">
                    <a:srgbClr val="000000">
                      <a:alpha val="43137"/>
                    </a:srgbClr>
                  </a:outerShdw>
                </a:effectLst>
                <a:latin typeface="Times New Roman"/>
              </a:rPr>
            </a:br>
            <a:endParaRPr lang="en-US" sz="40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4D6F8F5-909C-9437-7262-FD07DE624CB9}"/>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70E67DC4-F38C-8212-BE61-5163B9D4A593}"/>
              </a:ext>
            </a:extLst>
          </p:cNvPr>
          <p:cNvSpPr>
            <a:spLocks noChangeArrowheads="1"/>
          </p:cNvSpPr>
          <p:nvPr/>
        </p:nvSpPr>
        <p:spPr bwMode="auto">
          <a:xfrm>
            <a:off x="755073" y="2609794"/>
            <a:ext cx="534092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u="sng"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 </a:t>
            </a:r>
            <a:r>
              <a:rPr lang="en-IN" sz="2400" dirty="0">
                <a:latin typeface="Times New Roman" panose="02020603050405020304" pitchFamily="18" charset="0"/>
                <a:cs typeface="Times New Roman" panose="02020603050405020304" pitchFamily="18" charset="0"/>
              </a:rPr>
              <a:t>Intel i5 or higher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 </a:t>
            </a:r>
            <a:r>
              <a:rPr lang="en-IN" sz="2400" dirty="0">
                <a:latin typeface="Times New Roman" panose="02020603050405020304" pitchFamily="18" charset="0"/>
                <a:cs typeface="Times New Roman" panose="02020603050405020304" pitchFamily="18" charset="0"/>
              </a:rPr>
              <a:t>Minimum 8 GB </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Storage: </a:t>
            </a:r>
            <a:r>
              <a:rPr lang="en-IN" sz="2400" dirty="0">
                <a:latin typeface="Times New Roman" panose="02020603050405020304" pitchFamily="18" charset="0"/>
                <a:cs typeface="Times New Roman" panose="02020603050405020304" pitchFamily="18" charset="0"/>
              </a:rPr>
              <a:t>512 GB SSD </a:t>
            </a:r>
          </a:p>
        </p:txBody>
      </p:sp>
      <p:sp>
        <p:nvSpPr>
          <p:cNvPr id="3" name="TextBox 2">
            <a:extLst>
              <a:ext uri="{FF2B5EF4-FFF2-40B4-BE49-F238E27FC236}">
                <a16:creationId xmlns:a16="http://schemas.microsoft.com/office/drawing/2014/main" id="{E23D29A8-61DC-01C2-A22D-587540EAA75F}"/>
              </a:ext>
            </a:extLst>
          </p:cNvPr>
          <p:cNvSpPr txBox="1"/>
          <p:nvPr/>
        </p:nvSpPr>
        <p:spPr>
          <a:xfrm>
            <a:off x="6164826" y="2609794"/>
            <a:ext cx="5860026" cy="2739211"/>
          </a:xfrm>
          <a:prstGeom prst="rect">
            <a:avLst/>
          </a:prstGeom>
          <a:noFill/>
        </p:spPr>
        <p:txBody>
          <a:bodyPr wrap="square" rtlCol="0">
            <a:spAutoFit/>
          </a:bodyPr>
          <a:lstStyle/>
          <a:p>
            <a:r>
              <a:rPr lang="en-IN" sz="2800" b="1" u="sng" dirty="0">
                <a:latin typeface="Times New Roman" panose="02020603050405020304" pitchFamily="18" charset="0"/>
                <a:cs typeface="Times New Roman" panose="02020603050405020304" pitchFamily="18" charset="0"/>
              </a:rPr>
              <a:t>Software</a:t>
            </a:r>
            <a:r>
              <a:rPr lang="en-IN" sz="2000" b="1" u="sng" dirty="0">
                <a:latin typeface="Times New Roman" panose="02020603050405020304" pitchFamily="18" charset="0"/>
                <a:cs typeface="Times New Roman" panose="02020603050405020304" pitchFamily="18" charset="0"/>
              </a:rPr>
              <a:t> Requirements: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 Linux</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Programming Language: </a:t>
            </a:r>
            <a:r>
              <a:rPr lang="en-IN" sz="2400" dirty="0">
                <a:latin typeface="Times New Roman" panose="02020603050405020304" pitchFamily="18" charset="0"/>
                <a:cs typeface="Times New Roman" panose="02020603050405020304" pitchFamily="18" charset="0"/>
              </a:rPr>
              <a:t>Python</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Frameworks: </a:t>
            </a:r>
            <a:r>
              <a:rPr lang="en-IN" sz="2400"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Transformers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Libraries: </a:t>
            </a:r>
            <a:r>
              <a:rPr lang="en-IN" sz="2400" dirty="0">
                <a:latin typeface="Times New Roman" panose="02020603050405020304" pitchFamily="18" charset="0"/>
                <a:cs typeface="Times New Roman" panose="02020603050405020304" pitchFamily="18" charset="0"/>
              </a:rPr>
              <a:t>OpenCV, NLTK, Scikit-learn</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Tools:</a:t>
            </a:r>
            <a:r>
              <a:rPr lang="en-IN" sz="2400" dirty="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VS Code / Jupyter</a:t>
            </a:r>
            <a:r>
              <a:rPr lang="en-IN" sz="2400" dirty="0">
                <a:latin typeface="Times New Roman" panose="02020603050405020304" pitchFamily="18" charset="0"/>
                <a:cs typeface="Times New Roman" panose="02020603050405020304" pitchFamily="18" charset="0"/>
              </a:rPr>
              <a:t> Notebook</a:t>
            </a:r>
          </a:p>
        </p:txBody>
      </p:sp>
    </p:spTree>
    <p:extLst>
      <p:ext uri="{BB962C8B-B14F-4D97-AF65-F5344CB8AC3E}">
        <p14:creationId xmlns:p14="http://schemas.microsoft.com/office/powerpoint/2010/main" val="1775769096"/>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4EF-3318-97C8-C2B0-272E6185D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2D080-0926-B7A8-CAC4-0CD2004ECCBB}"/>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Novelty</a:t>
            </a:r>
          </a:p>
        </p:txBody>
      </p:sp>
      <p:pic>
        <p:nvPicPr>
          <p:cNvPr id="4" name="Picture 3" descr="A logo with a flower&#10;&#10;Description automatically generated">
            <a:extLst>
              <a:ext uri="{FF2B5EF4-FFF2-40B4-BE49-F238E27FC236}">
                <a16:creationId xmlns:a16="http://schemas.microsoft.com/office/drawing/2014/main" id="{A8532B0D-C2A9-1A83-464F-9A2332C92BEE}"/>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F124FDA-01E4-9163-59AE-CA815F789E15}"/>
              </a:ext>
            </a:extLst>
          </p:cNvPr>
          <p:cNvSpPr>
            <a:spLocks noChangeArrowheads="1"/>
          </p:cNvSpPr>
          <p:nvPr/>
        </p:nvSpPr>
        <p:spPr bwMode="auto">
          <a:xfrm>
            <a:off x="755073" y="2208404"/>
            <a:ext cx="1044632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latin typeface="Times New Roman" panose="02020603050405020304" pitchFamily="18" charset="0"/>
                <a:cs typeface="Times New Roman" panose="02020603050405020304" pitchFamily="18" charset="0"/>
              </a:rPr>
              <a:t>This project introduces a multimodal hate speech detection system that analyzes both image and text in memes, overcoming the limitations of traditional text-only approaches.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uses advanced transformer models such as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for image understanding and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for capturing deep textual context and meaning.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proposed system provides a more accurate, scalable, and context-aware solution for detecting hidden and implicit hate speech in real-world social media memes.</a:t>
            </a:r>
          </a:p>
        </p:txBody>
      </p:sp>
    </p:spTree>
    <p:extLst>
      <p:ext uri="{BB962C8B-B14F-4D97-AF65-F5344CB8AC3E}">
        <p14:creationId xmlns:p14="http://schemas.microsoft.com/office/powerpoint/2010/main" val="478098740"/>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0589DE3D-E177-26DB-C03A-1A5EBA01D6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12BF5CB3-6AE8-2D35-CABB-54D2E54B2FCB}"/>
              </a:ext>
            </a:extLst>
          </p:cNvPr>
          <p:cNvSpPr txBox="1"/>
          <p:nvPr/>
        </p:nvSpPr>
        <p:spPr>
          <a:xfrm>
            <a:off x="952500" y="92978"/>
            <a:ext cx="9982200" cy="707886"/>
          </a:xfrm>
          <a:prstGeom prst="rect">
            <a:avLst/>
          </a:prstGeom>
          <a:noFill/>
        </p:spPr>
        <p:txBody>
          <a:bodyPr wrap="square">
            <a:spAutoFit/>
          </a:bodyPr>
          <a:lstStyle/>
          <a:p>
            <a:pPr algn="ctr"/>
            <a:r>
              <a:rPr lang="en-US" sz="4000" b="1" dirty="0">
                <a:effectLst>
                  <a:outerShdw blurRad="38100" dist="38100" dir="2700000" algn="tl">
                    <a:srgbClr val="000000">
                      <a:alpha val="43137"/>
                    </a:srgbClr>
                  </a:outerShdw>
                </a:effectLst>
                <a:latin typeface="Times New Roman" panose="02020603050405020304"/>
                <a:cs typeface="Arial" panose="020B0604020202020204"/>
              </a:rPr>
              <a:t>System Architecture</a:t>
            </a:r>
            <a:endParaRPr lang="en-IN" sz="4000" b="1" dirty="0">
              <a:effectLst>
                <a:outerShdw blurRad="38100" dist="38100" dir="2700000" algn="tl">
                  <a:srgbClr val="000000">
                    <a:alpha val="43137"/>
                  </a:srgbClr>
                </a:outerShdw>
              </a:effectLst>
            </a:endParaRPr>
          </a:p>
        </p:txBody>
      </p:sp>
      <p:pic>
        <p:nvPicPr>
          <p:cNvPr id="10" name="Picture 9" descr="A logo with a flower&#10;&#10;Description automatically generated">
            <a:extLst>
              <a:ext uri="{FF2B5EF4-FFF2-40B4-BE49-F238E27FC236}">
                <a16:creationId xmlns:a16="http://schemas.microsoft.com/office/drawing/2014/main" id="{99FB0305-E922-9ADB-D9B3-F72743724F52}"/>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1028" name="Picture 1">
            <a:extLst>
              <a:ext uri="{FF2B5EF4-FFF2-40B4-BE49-F238E27FC236}">
                <a16:creationId xmlns:a16="http://schemas.microsoft.com/office/drawing/2014/main" id="{A10FC19D-B3F7-65F8-A5CE-85CF424CD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16" y="1543666"/>
            <a:ext cx="11267767" cy="46416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898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E9F64-2A6F-F936-C5EF-AB6032CD2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E756-F3B6-2584-8D59-79E81FB9BB4E}"/>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29C048B-99F0-C009-B5AE-FEA9D5994E44}"/>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14935" y="0"/>
            <a:ext cx="1477065" cy="1251225"/>
          </a:xfrm>
          <a:prstGeom prst="rect">
            <a:avLst/>
          </a:prstGeom>
          <a:noFill/>
        </p:spPr>
      </p:pic>
      <p:sp>
        <p:nvSpPr>
          <p:cNvPr id="5" name="Rectangle 1">
            <a:extLst>
              <a:ext uri="{FF2B5EF4-FFF2-40B4-BE49-F238E27FC236}">
                <a16:creationId xmlns:a16="http://schemas.microsoft.com/office/drawing/2014/main" id="{D0FD459A-16B7-F465-0439-E52D455AA75E}"/>
              </a:ext>
            </a:extLst>
          </p:cNvPr>
          <p:cNvSpPr>
            <a:spLocks noChangeArrowheads="1"/>
          </p:cNvSpPr>
          <p:nvPr/>
        </p:nvSpPr>
        <p:spPr bwMode="auto">
          <a:xfrm>
            <a:off x="570271" y="1654407"/>
            <a:ext cx="1063113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Data Acquisition &amp; Preprocessing:</a:t>
            </a:r>
          </a:p>
          <a:p>
            <a:pPr lvl="1"/>
            <a:r>
              <a:rPr lang="en-US" sz="2400" dirty="0">
                <a:latin typeface="Times New Roman" panose="02020603050405020304" pitchFamily="18" charset="0"/>
                <a:cs typeface="Times New Roman" panose="02020603050405020304" pitchFamily="18" charset="0"/>
              </a:rPr>
              <a:t>This module collects meme images and extracts embedded text using OCR(Optical Character Recognition). Both image and text data are cleaned, resized, and normalized for further processing.</a:t>
            </a: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Feature Extraction:</a:t>
            </a:r>
          </a:p>
          <a:p>
            <a:pPr lvl="1"/>
            <a:r>
              <a:rPr lang="en-US" sz="2400" dirty="0">
                <a:latin typeface="Times New Roman" panose="02020603050405020304" pitchFamily="18" charset="0"/>
                <a:cs typeface="Times New Roman" panose="02020603050405020304" pitchFamily="18" charset="0"/>
              </a:rPr>
              <a:t>Visual features are extracted using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while textual features are generated using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to understand the meaning and context of meme text.</a:t>
            </a: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Multimodal Fusion &amp; Classification:</a:t>
            </a:r>
          </a:p>
          <a:p>
            <a:pPr lvl="1"/>
            <a:r>
              <a:rPr lang="en-US" sz="2400" dirty="0">
                <a:latin typeface="Times New Roman" panose="02020603050405020304" pitchFamily="18" charset="0"/>
                <a:cs typeface="Times New Roman" panose="02020603050405020304" pitchFamily="18" charset="0"/>
              </a:rPr>
              <a:t>The extracted image and text features are combined and classified to identify whether a meme contains hate speech or non-hateful content.</a:t>
            </a:r>
          </a:p>
        </p:txBody>
      </p:sp>
    </p:spTree>
    <p:extLst>
      <p:ext uri="{BB962C8B-B14F-4D97-AF65-F5344CB8AC3E}">
        <p14:creationId xmlns:p14="http://schemas.microsoft.com/office/powerpoint/2010/main" val="1100335140"/>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69FD68-C12E-89A1-E129-759F39714272}"/>
              </a:ext>
            </a:extLst>
          </p:cNvPr>
          <p:cNvSpPr txBox="1"/>
          <p:nvPr/>
        </p:nvSpPr>
        <p:spPr>
          <a:xfrm>
            <a:off x="366919" y="76200"/>
            <a:ext cx="4128881" cy="1077218"/>
          </a:xfrm>
          <a:prstGeom prst="rect">
            <a:avLst/>
          </a:prstGeom>
          <a:noFill/>
        </p:spPr>
        <p:txBody>
          <a:bodyPr wrap="square" rtlCol="0">
            <a:spAutoFit/>
          </a:bodyPr>
          <a:lstStyle/>
          <a:p>
            <a:r>
              <a:rPr lang="en-US" sz="3200" b="1" dirty="0">
                <a:effectLst>
                  <a:outerShdw blurRad="38100" dist="38100" dir="2700000" algn="tl">
                    <a:srgbClr val="000000">
                      <a:alpha val="43137"/>
                    </a:srgbClr>
                  </a:outerShdw>
                </a:effectLst>
                <a:latin typeface="Times New Roman" panose="02020603050405020304"/>
                <a:cs typeface="Arial" panose="020B0604020202020204"/>
              </a:rPr>
              <a:t>UML DIAGRAMS:</a:t>
            </a:r>
            <a:endPar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descr="A logo with a flower&#10;&#10;Description automatically generated">
            <a:extLst>
              <a:ext uri="{FF2B5EF4-FFF2-40B4-BE49-F238E27FC236}">
                <a16:creationId xmlns:a16="http://schemas.microsoft.com/office/drawing/2014/main" id="{CDFB93A5-0B3C-0058-15E2-A081EA97BD00}"/>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2050" name="Picture 2">
            <a:extLst>
              <a:ext uri="{FF2B5EF4-FFF2-40B4-BE49-F238E27FC236}">
                <a16:creationId xmlns:a16="http://schemas.microsoft.com/office/drawing/2014/main" id="{0F5E1F64-C658-184B-A6F3-130154786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813"/>
          <a:stretch>
            <a:fillRect/>
          </a:stretch>
        </p:blipFill>
        <p:spPr bwMode="auto">
          <a:xfrm>
            <a:off x="183459" y="1860755"/>
            <a:ext cx="11825081" cy="3136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834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A2B1-0658-3495-A0A9-FE445EDC0F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3E8731-E620-FE7E-EDB3-5D5072E2527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p>
        </p:txBody>
      </p:sp>
      <p:pic>
        <p:nvPicPr>
          <p:cNvPr id="8" name="Picture 7" descr="A logo with a flower&#10;&#10;Description automatically generated">
            <a:extLst>
              <a:ext uri="{FF2B5EF4-FFF2-40B4-BE49-F238E27FC236}">
                <a16:creationId xmlns:a16="http://schemas.microsoft.com/office/drawing/2014/main" id="{AA974DB2-E392-E82D-D377-4E29DB654BE6}"/>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1026" name="Picture 2" descr="PlantUML diagram">
            <a:extLst>
              <a:ext uri="{FF2B5EF4-FFF2-40B4-BE49-F238E27FC236}">
                <a16:creationId xmlns:a16="http://schemas.microsoft.com/office/drawing/2014/main" id="{5D52D1DE-4913-CAAA-E20F-2E5429C78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388" y="0"/>
            <a:ext cx="369370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91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4116-8559-81D8-8E54-88A838697FFC}"/>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BC11DE66-41B8-3E90-F47E-474FD33B16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61"/>
          <a:stretch>
            <a:fillRect/>
          </a:stretch>
        </p:blipFill>
        <p:spPr bwMode="auto">
          <a:xfrm>
            <a:off x="784666" y="1463914"/>
            <a:ext cx="10622668" cy="492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D158477-E432-B57D-5440-8E7EE604A05A}"/>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p>
        </p:txBody>
      </p:sp>
      <p:pic>
        <p:nvPicPr>
          <p:cNvPr id="8" name="Picture 7" descr="A logo with a flower&#10;&#10;Description automatically generated">
            <a:extLst>
              <a:ext uri="{FF2B5EF4-FFF2-40B4-BE49-F238E27FC236}">
                <a16:creationId xmlns:a16="http://schemas.microsoft.com/office/drawing/2014/main" id="{E2E7A8CA-DBC4-822E-EB88-D3672009CDDF}"/>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14935" y="0"/>
            <a:ext cx="1477065" cy="1251225"/>
          </a:xfrm>
          <a:prstGeom prst="rect">
            <a:avLst/>
          </a:prstGeom>
          <a:noFill/>
        </p:spPr>
      </p:pic>
    </p:spTree>
    <p:extLst>
      <p:ext uri="{BB962C8B-B14F-4D97-AF65-F5344CB8AC3E}">
        <p14:creationId xmlns:p14="http://schemas.microsoft.com/office/powerpoint/2010/main" val="1677913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9D0B-1A80-D70A-A364-BFD748AA93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2E1C98-A126-49B2-14A4-0B2CD716A2C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p>
        </p:txBody>
      </p:sp>
      <p:pic>
        <p:nvPicPr>
          <p:cNvPr id="8" name="Picture 7" descr="A logo with a flower&#10;&#10;Description automatically generated">
            <a:extLst>
              <a:ext uri="{FF2B5EF4-FFF2-40B4-BE49-F238E27FC236}">
                <a16:creationId xmlns:a16="http://schemas.microsoft.com/office/drawing/2014/main" id="{6904FEB9-DA30-861A-D501-BDEDB38E8FF3}"/>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14935" y="0"/>
            <a:ext cx="1477065" cy="1251225"/>
          </a:xfrm>
          <a:prstGeom prst="rect">
            <a:avLst/>
          </a:prstGeom>
          <a:noFill/>
        </p:spPr>
      </p:pic>
      <p:pic>
        <p:nvPicPr>
          <p:cNvPr id="5122" name="Picture 2">
            <a:extLst>
              <a:ext uri="{FF2B5EF4-FFF2-40B4-BE49-F238E27FC236}">
                <a16:creationId xmlns:a16="http://schemas.microsoft.com/office/drawing/2014/main" id="{1A15BC0F-E7E2-A0B1-069C-2A2D8F93C8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70"/>
          <a:stretch>
            <a:fillRect/>
          </a:stretch>
        </p:blipFill>
        <p:spPr bwMode="auto">
          <a:xfrm>
            <a:off x="4495800" y="538316"/>
            <a:ext cx="5641258" cy="6243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17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AD3BE-9E92-4485-A7CF-E739E580186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B5ED1D4-F25F-51B7-27DD-F8E4872CA3F7}"/>
              </a:ext>
            </a:extLst>
          </p:cNvPr>
          <p:cNvPicPr>
            <a:picLocks noChangeAspect="1"/>
          </p:cNvPicPr>
          <p:nvPr/>
        </p:nvPicPr>
        <p:blipFill>
          <a:blip r:embed="rId2">
            <a:extLst>
              <a:ext uri="{28A0092B-C50C-407E-A947-70E740481C1C}">
                <a14:useLocalDpi xmlns:a14="http://schemas.microsoft.com/office/drawing/2010/main" val="0"/>
              </a:ext>
            </a:extLst>
          </a:blip>
          <a:srcRect t="10006" r="11778"/>
          <a:stretch>
            <a:fillRect/>
          </a:stretch>
        </p:blipFill>
        <p:spPr>
          <a:xfrm>
            <a:off x="5741214" y="621990"/>
            <a:ext cx="6150189" cy="6171835"/>
          </a:xfrm>
          <a:prstGeom prst="rect">
            <a:avLst/>
          </a:prstGeom>
        </p:spPr>
      </p:pic>
      <p:sp>
        <p:nvSpPr>
          <p:cNvPr id="4" name="TextBox 3">
            <a:extLst>
              <a:ext uri="{FF2B5EF4-FFF2-40B4-BE49-F238E27FC236}">
                <a16:creationId xmlns:a16="http://schemas.microsoft.com/office/drawing/2014/main" id="{488F3007-A87F-4B0D-69F2-C6CFC66F43E7}"/>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B899FD24-ED1B-6758-53AA-6F0AE43B637C}"/>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30119" y="-3621"/>
            <a:ext cx="1477065" cy="1251225"/>
          </a:xfrm>
          <a:prstGeom prst="rect">
            <a:avLst/>
          </a:prstGeom>
          <a:noFill/>
        </p:spPr>
      </p:pic>
      <p:pic>
        <p:nvPicPr>
          <p:cNvPr id="3" name="Picture 2">
            <a:extLst>
              <a:ext uri="{FF2B5EF4-FFF2-40B4-BE49-F238E27FC236}">
                <a16:creationId xmlns:a16="http://schemas.microsoft.com/office/drawing/2014/main" id="{4FF49A6C-CC77-12E1-0A18-C5C3239B28E5}"/>
              </a:ext>
            </a:extLst>
          </p:cNvPr>
          <p:cNvPicPr>
            <a:picLocks noChangeAspect="1"/>
          </p:cNvPicPr>
          <p:nvPr/>
        </p:nvPicPr>
        <p:blipFill>
          <a:blip r:embed="rId4">
            <a:extLst>
              <a:ext uri="{28A0092B-C50C-407E-A947-70E740481C1C}">
                <a14:useLocalDpi xmlns:a14="http://schemas.microsoft.com/office/drawing/2010/main" val="0"/>
              </a:ext>
            </a:extLst>
          </a:blip>
          <a:srcRect r="19626"/>
          <a:stretch>
            <a:fillRect/>
          </a:stretch>
        </p:blipFill>
        <p:spPr>
          <a:xfrm>
            <a:off x="366920" y="621991"/>
            <a:ext cx="5274717" cy="6171834"/>
          </a:xfrm>
          <a:prstGeom prst="rect">
            <a:avLst/>
          </a:prstGeom>
        </p:spPr>
      </p:pic>
    </p:spTree>
    <p:extLst>
      <p:ext uri="{BB962C8B-B14F-4D97-AF65-F5344CB8AC3E}">
        <p14:creationId xmlns:p14="http://schemas.microsoft.com/office/powerpoint/2010/main" val="2338758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AD3BE-9E92-4485-A7CF-E739E580186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34D518C-D5D3-F504-0F05-C0F00597CEA8}"/>
              </a:ext>
            </a:extLst>
          </p:cNvPr>
          <p:cNvPicPr>
            <a:picLocks noChangeAspect="1"/>
          </p:cNvPicPr>
          <p:nvPr/>
        </p:nvPicPr>
        <p:blipFill>
          <a:blip r:embed="rId2">
            <a:extLst>
              <a:ext uri="{28A0092B-C50C-407E-A947-70E740481C1C}">
                <a14:useLocalDpi xmlns:a14="http://schemas.microsoft.com/office/drawing/2010/main" val="0"/>
              </a:ext>
            </a:extLst>
          </a:blip>
          <a:srcRect t="7021" r="29158"/>
          <a:stretch>
            <a:fillRect/>
          </a:stretch>
        </p:blipFill>
        <p:spPr>
          <a:xfrm>
            <a:off x="5790982" y="554370"/>
            <a:ext cx="5201482" cy="6227429"/>
          </a:xfrm>
          <a:prstGeom prst="rect">
            <a:avLst/>
          </a:prstGeom>
        </p:spPr>
      </p:pic>
      <p:sp>
        <p:nvSpPr>
          <p:cNvPr id="4" name="TextBox 3">
            <a:extLst>
              <a:ext uri="{FF2B5EF4-FFF2-40B4-BE49-F238E27FC236}">
                <a16:creationId xmlns:a16="http://schemas.microsoft.com/office/drawing/2014/main" id="{488F3007-A87F-4B0D-69F2-C6CFC66F43E7}"/>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B899FD24-ED1B-6758-53AA-6F0AE43B637C}"/>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30119" y="-3621"/>
            <a:ext cx="1477065" cy="1251225"/>
          </a:xfrm>
          <a:prstGeom prst="rect">
            <a:avLst/>
          </a:prstGeom>
          <a:noFill/>
        </p:spPr>
      </p:pic>
      <p:pic>
        <p:nvPicPr>
          <p:cNvPr id="3" name="Picture 2">
            <a:extLst>
              <a:ext uri="{FF2B5EF4-FFF2-40B4-BE49-F238E27FC236}">
                <a16:creationId xmlns:a16="http://schemas.microsoft.com/office/drawing/2014/main" id="{6F052548-D6E4-01B9-D7C3-7B35711C33D0}"/>
              </a:ext>
            </a:extLst>
          </p:cNvPr>
          <p:cNvPicPr>
            <a:picLocks noChangeAspect="1"/>
          </p:cNvPicPr>
          <p:nvPr/>
        </p:nvPicPr>
        <p:blipFill>
          <a:blip r:embed="rId4">
            <a:extLst>
              <a:ext uri="{28A0092B-C50C-407E-A947-70E740481C1C}">
                <a14:useLocalDpi xmlns:a14="http://schemas.microsoft.com/office/drawing/2010/main" val="0"/>
              </a:ext>
            </a:extLst>
          </a:blip>
          <a:srcRect r="18281" b="4165"/>
          <a:stretch>
            <a:fillRect/>
          </a:stretch>
        </p:blipFill>
        <p:spPr>
          <a:xfrm>
            <a:off x="366920" y="730042"/>
            <a:ext cx="5289718" cy="6051757"/>
          </a:xfrm>
          <a:prstGeom prst="rect">
            <a:avLst/>
          </a:prstGeom>
        </p:spPr>
      </p:pic>
    </p:spTree>
    <p:extLst>
      <p:ext uri="{BB962C8B-B14F-4D97-AF65-F5344CB8AC3E}">
        <p14:creationId xmlns:p14="http://schemas.microsoft.com/office/powerpoint/2010/main" val="1197410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5ABA-E75D-D3A2-F728-6FDC7C9701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63A54A-534D-C91A-FB95-6D897271F15C}"/>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044F0626-AFDA-BCE4-266D-6FBAED424E64}"/>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11" name="Picture 10">
            <a:extLst>
              <a:ext uri="{FF2B5EF4-FFF2-40B4-BE49-F238E27FC236}">
                <a16:creationId xmlns:a16="http://schemas.microsoft.com/office/drawing/2014/main" id="{DE4BD132-339F-ABFD-E590-CB74C6B45C9F}"/>
              </a:ext>
            </a:extLst>
          </p:cNvPr>
          <p:cNvPicPr>
            <a:picLocks noChangeAspect="1"/>
          </p:cNvPicPr>
          <p:nvPr/>
        </p:nvPicPr>
        <p:blipFill>
          <a:blip r:embed="rId3">
            <a:extLst>
              <a:ext uri="{28A0092B-C50C-407E-A947-70E740481C1C}">
                <a14:useLocalDpi xmlns:a14="http://schemas.microsoft.com/office/drawing/2010/main" val="0"/>
              </a:ext>
            </a:extLst>
          </a:blip>
          <a:srcRect r="35301"/>
          <a:stretch>
            <a:fillRect/>
          </a:stretch>
        </p:blipFill>
        <p:spPr>
          <a:xfrm>
            <a:off x="532724" y="541955"/>
            <a:ext cx="5043800" cy="6179574"/>
          </a:xfrm>
          <a:prstGeom prst="rect">
            <a:avLst/>
          </a:prstGeom>
        </p:spPr>
      </p:pic>
      <p:pic>
        <p:nvPicPr>
          <p:cNvPr id="13" name="Picture 12">
            <a:extLst>
              <a:ext uri="{FF2B5EF4-FFF2-40B4-BE49-F238E27FC236}">
                <a16:creationId xmlns:a16="http://schemas.microsoft.com/office/drawing/2014/main" id="{C4E2D862-DF0C-364F-4262-2EB00AF29265}"/>
              </a:ext>
            </a:extLst>
          </p:cNvPr>
          <p:cNvPicPr>
            <a:picLocks noChangeAspect="1"/>
          </p:cNvPicPr>
          <p:nvPr/>
        </p:nvPicPr>
        <p:blipFill>
          <a:blip r:embed="rId4">
            <a:extLst>
              <a:ext uri="{28A0092B-C50C-407E-A947-70E740481C1C}">
                <a14:useLocalDpi xmlns:a14="http://schemas.microsoft.com/office/drawing/2010/main" val="0"/>
              </a:ext>
            </a:extLst>
          </a:blip>
          <a:srcRect r="25178"/>
          <a:stretch>
            <a:fillRect/>
          </a:stretch>
        </p:blipFill>
        <p:spPr>
          <a:xfrm>
            <a:off x="5840652" y="362614"/>
            <a:ext cx="4819440" cy="6358916"/>
          </a:xfrm>
          <a:prstGeom prst="rect">
            <a:avLst/>
          </a:prstGeom>
        </p:spPr>
      </p:pic>
    </p:spTree>
    <p:extLst>
      <p:ext uri="{BB962C8B-B14F-4D97-AF65-F5344CB8AC3E}">
        <p14:creationId xmlns:p14="http://schemas.microsoft.com/office/powerpoint/2010/main" val="873157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42419-D851-1375-1D22-16A60D09582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538202A7-02B9-C392-30A4-FF75BCF75913}"/>
              </a:ext>
            </a:extLst>
          </p:cNvPr>
          <p:cNvPicPr>
            <a:picLocks noChangeAspect="1"/>
          </p:cNvPicPr>
          <p:nvPr/>
        </p:nvPicPr>
        <p:blipFill>
          <a:blip r:embed="rId2">
            <a:extLst>
              <a:ext uri="{28A0092B-C50C-407E-A947-70E740481C1C}">
                <a14:useLocalDpi xmlns:a14="http://schemas.microsoft.com/office/drawing/2010/main" val="0"/>
              </a:ext>
            </a:extLst>
          </a:blip>
          <a:srcRect r="13017"/>
          <a:stretch>
            <a:fillRect/>
          </a:stretch>
        </p:blipFill>
        <p:spPr>
          <a:xfrm>
            <a:off x="5746616" y="476311"/>
            <a:ext cx="5196688" cy="6363930"/>
          </a:xfrm>
          <a:prstGeom prst="rect">
            <a:avLst/>
          </a:prstGeom>
        </p:spPr>
      </p:pic>
      <p:sp>
        <p:nvSpPr>
          <p:cNvPr id="4" name="TextBox 3">
            <a:extLst>
              <a:ext uri="{FF2B5EF4-FFF2-40B4-BE49-F238E27FC236}">
                <a16:creationId xmlns:a16="http://schemas.microsoft.com/office/drawing/2014/main" id="{E7889E75-0BBD-998E-B85E-7573EA4AC1CA}"/>
              </a:ext>
            </a:extLst>
          </p:cNvPr>
          <p:cNvSpPr txBox="1"/>
          <p:nvPr/>
        </p:nvSpPr>
        <p:spPr>
          <a:xfrm>
            <a:off x="366920" y="76201"/>
            <a:ext cx="2571036"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Code</a:t>
            </a:r>
          </a:p>
        </p:txBody>
      </p:sp>
      <p:pic>
        <p:nvPicPr>
          <p:cNvPr id="8" name="Picture 7" descr="A logo with a flower&#10;&#10;Description automatically generated">
            <a:extLst>
              <a:ext uri="{FF2B5EF4-FFF2-40B4-BE49-F238E27FC236}">
                <a16:creationId xmlns:a16="http://schemas.microsoft.com/office/drawing/2014/main" id="{A587BC6E-FA76-81E3-CB36-621589682956}"/>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30119" y="-3621"/>
            <a:ext cx="1477065" cy="1251225"/>
          </a:xfrm>
          <a:prstGeom prst="rect">
            <a:avLst/>
          </a:prstGeom>
          <a:noFill/>
        </p:spPr>
      </p:pic>
      <p:pic>
        <p:nvPicPr>
          <p:cNvPr id="15" name="Picture 14">
            <a:extLst>
              <a:ext uri="{FF2B5EF4-FFF2-40B4-BE49-F238E27FC236}">
                <a16:creationId xmlns:a16="http://schemas.microsoft.com/office/drawing/2014/main" id="{7E317D1D-5203-EC0D-37F4-77C6C196CB59}"/>
              </a:ext>
            </a:extLst>
          </p:cNvPr>
          <p:cNvPicPr>
            <a:picLocks noChangeAspect="1"/>
          </p:cNvPicPr>
          <p:nvPr/>
        </p:nvPicPr>
        <p:blipFill>
          <a:blip r:embed="rId4">
            <a:extLst>
              <a:ext uri="{28A0092B-C50C-407E-A947-70E740481C1C}">
                <a14:useLocalDpi xmlns:a14="http://schemas.microsoft.com/office/drawing/2010/main" val="0"/>
              </a:ext>
            </a:extLst>
          </a:blip>
          <a:srcRect r="16971"/>
          <a:stretch>
            <a:fillRect/>
          </a:stretch>
        </p:blipFill>
        <p:spPr>
          <a:xfrm>
            <a:off x="639097" y="476311"/>
            <a:ext cx="4837471" cy="6363930"/>
          </a:xfrm>
          <a:prstGeom prst="rect">
            <a:avLst/>
          </a:prstGeom>
        </p:spPr>
      </p:pic>
    </p:spTree>
    <p:extLst>
      <p:ext uri="{BB962C8B-B14F-4D97-AF65-F5344CB8AC3E}">
        <p14:creationId xmlns:p14="http://schemas.microsoft.com/office/powerpoint/2010/main" val="3213947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A48C-0980-EDE9-8196-49DDF300C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F6152-6E41-E587-9A83-B3237149CBAA}"/>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D1EC8EE-3BE1-937A-C851-398C51B8775F}"/>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6" name="TextBox 5">
            <a:extLst>
              <a:ext uri="{FF2B5EF4-FFF2-40B4-BE49-F238E27FC236}">
                <a16:creationId xmlns:a16="http://schemas.microsoft.com/office/drawing/2014/main" id="{612FFBB9-7619-1ECC-34A1-F4A3167992FE}"/>
              </a:ext>
            </a:extLst>
          </p:cNvPr>
          <p:cNvSpPr txBox="1"/>
          <p:nvPr/>
        </p:nvSpPr>
        <p:spPr>
          <a:xfrm>
            <a:off x="420329" y="6061587"/>
            <a:ext cx="11582400" cy="400110"/>
          </a:xfrm>
          <a:prstGeom prst="rect">
            <a:avLst/>
          </a:prstGeom>
          <a:noFill/>
        </p:spPr>
        <p:txBody>
          <a:bodyPr wrap="square" rtlCol="0">
            <a:spAutoFit/>
          </a:bodyPr>
          <a:lstStyle/>
          <a:p>
            <a:pPr algn="ct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GUI of home screen of hate speech detection in memes </a:t>
            </a:r>
            <a:endPar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60E103F-FE04-52FB-3454-922894CBC4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140" y="1138843"/>
            <a:ext cx="10730119" cy="4804757"/>
          </a:xfrm>
          <a:prstGeom prst="rect">
            <a:avLst/>
          </a:prstGeom>
        </p:spPr>
      </p:pic>
    </p:spTree>
    <p:extLst>
      <p:ext uri="{BB962C8B-B14F-4D97-AF65-F5344CB8AC3E}">
        <p14:creationId xmlns:p14="http://schemas.microsoft.com/office/powerpoint/2010/main" val="2595369386"/>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00275-8AA5-29D5-EC69-EE2CBB145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AA51F-B984-76C0-2308-4B3E38A507C2}"/>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CB5A1C60-0371-C2F0-1503-23A3D27A9CBD}"/>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6" name="TextBox 5">
            <a:extLst>
              <a:ext uri="{FF2B5EF4-FFF2-40B4-BE49-F238E27FC236}">
                <a16:creationId xmlns:a16="http://schemas.microsoft.com/office/drawing/2014/main" id="{B0828EB7-6A56-DC53-A3C6-77B80BBD0DFD}"/>
              </a:ext>
            </a:extLst>
          </p:cNvPr>
          <p:cNvSpPr txBox="1"/>
          <p:nvPr/>
        </p:nvSpPr>
        <p:spPr>
          <a:xfrm>
            <a:off x="420329" y="6061587"/>
            <a:ext cx="11582400" cy="40011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Final Model Prediction of Image and Text output</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90DEF68-B689-C51A-651D-EE2198BB6D1F}"/>
              </a:ext>
            </a:extLst>
          </p:cNvPr>
          <p:cNvPicPr>
            <a:picLocks noChangeAspect="1"/>
          </p:cNvPicPr>
          <p:nvPr/>
        </p:nvPicPr>
        <p:blipFill>
          <a:blip r:embed="rId3">
            <a:extLst>
              <a:ext uri="{28A0092B-C50C-407E-A947-70E740481C1C}">
                <a14:useLocalDpi xmlns:a14="http://schemas.microsoft.com/office/drawing/2010/main" val="0"/>
              </a:ext>
            </a:extLst>
          </a:blip>
          <a:srcRect b="5627"/>
          <a:stretch>
            <a:fillRect/>
          </a:stretch>
        </p:blipFill>
        <p:spPr bwMode="auto">
          <a:xfrm>
            <a:off x="189271" y="1801625"/>
            <a:ext cx="5619750" cy="3389807"/>
          </a:xfrm>
          <a:prstGeom prst="rect">
            <a:avLst/>
          </a:prstGeom>
          <a:noFill/>
          <a:ln>
            <a:noFill/>
          </a:ln>
        </p:spPr>
      </p:pic>
      <p:pic>
        <p:nvPicPr>
          <p:cNvPr id="5" name="Picture 4">
            <a:extLst>
              <a:ext uri="{FF2B5EF4-FFF2-40B4-BE49-F238E27FC236}">
                <a16:creationId xmlns:a16="http://schemas.microsoft.com/office/drawing/2014/main" id="{B1FA9275-703F-1D33-7B77-AA547747CB5F}"/>
              </a:ext>
            </a:extLst>
          </p:cNvPr>
          <p:cNvPicPr>
            <a:picLocks noChangeAspect="1"/>
          </p:cNvPicPr>
          <p:nvPr/>
        </p:nvPicPr>
        <p:blipFill rotWithShape="1">
          <a:blip r:embed="rId4">
            <a:extLst>
              <a:ext uri="{28A0092B-C50C-407E-A947-70E740481C1C}">
                <a14:useLocalDpi xmlns:a14="http://schemas.microsoft.com/office/drawing/2010/main" val="0"/>
              </a:ext>
            </a:extLst>
          </a:blip>
          <a:srcRect r="2321" b="6358"/>
          <a:stretch>
            <a:fillRect/>
          </a:stretch>
        </p:blipFill>
        <p:spPr bwMode="auto">
          <a:xfrm>
            <a:off x="6211529" y="1801625"/>
            <a:ext cx="5743575" cy="335143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65537606"/>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B1F5C-F644-0C72-7234-B41848EBD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3237B-13E5-1F31-DD72-5A0E3ABBAF83}"/>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Results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F2F5B5EE-3529-8267-D2A7-74E4C3F6300E}"/>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6" name="TextBox 5">
            <a:extLst>
              <a:ext uri="{FF2B5EF4-FFF2-40B4-BE49-F238E27FC236}">
                <a16:creationId xmlns:a16="http://schemas.microsoft.com/office/drawing/2014/main" id="{2D8899D2-04C4-1E30-CCDE-76DB47F398C0}"/>
              </a:ext>
            </a:extLst>
          </p:cNvPr>
          <p:cNvSpPr txBox="1"/>
          <p:nvPr/>
        </p:nvSpPr>
        <p:spPr>
          <a:xfrm>
            <a:off x="76200" y="5943600"/>
            <a:ext cx="118872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Training and Validation Accuracy and Loss Curves for the Proposed SLIM Model</a:t>
            </a:r>
            <a:endPar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798D6E8-CF5D-323A-A7D0-0B678ADD92B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4735" y="1550025"/>
            <a:ext cx="4670323" cy="4015033"/>
          </a:xfrm>
          <a:prstGeom prst="rect">
            <a:avLst/>
          </a:prstGeom>
          <a:noFill/>
          <a:ln>
            <a:noFill/>
          </a:ln>
        </p:spPr>
      </p:pic>
      <p:pic>
        <p:nvPicPr>
          <p:cNvPr id="7" name="Picture 6">
            <a:extLst>
              <a:ext uri="{FF2B5EF4-FFF2-40B4-BE49-F238E27FC236}">
                <a16:creationId xmlns:a16="http://schemas.microsoft.com/office/drawing/2014/main" id="{CECF5CDC-4F39-D3FF-561C-8E3B14BA6B7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54993" y="1550024"/>
            <a:ext cx="4670323" cy="4015033"/>
          </a:xfrm>
          <a:prstGeom prst="rect">
            <a:avLst/>
          </a:prstGeom>
          <a:noFill/>
          <a:ln>
            <a:noFill/>
          </a:ln>
        </p:spPr>
      </p:pic>
    </p:spTree>
    <p:extLst>
      <p:ext uri="{BB962C8B-B14F-4D97-AF65-F5344CB8AC3E}">
        <p14:creationId xmlns:p14="http://schemas.microsoft.com/office/powerpoint/2010/main" val="1373793509"/>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00AC3-A1A1-E080-71F9-F7E8820B3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370B5-2A3C-1717-DE05-1F0AB5CECBC4}"/>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Conclusion and Future Enhancements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75B86B0D-2720-14FE-F14C-E74FB4501E04}"/>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67512E78-7F75-3576-FCB5-576E189B5663}"/>
              </a:ext>
            </a:extLst>
          </p:cNvPr>
          <p:cNvSpPr>
            <a:spLocks noChangeArrowheads="1"/>
          </p:cNvSpPr>
          <p:nvPr/>
        </p:nvSpPr>
        <p:spPr bwMode="auto">
          <a:xfrm>
            <a:off x="872836" y="1549846"/>
            <a:ext cx="1044632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latin typeface="Times New Roman" panose="02020603050405020304" pitchFamily="18" charset="0"/>
                <a:cs typeface="Times New Roman" panose="02020603050405020304" pitchFamily="18" charset="0"/>
              </a:rPr>
              <a:t>	The project successfully developed a multimodal hate speech detection system using the </a:t>
            </a:r>
            <a:r>
              <a:rPr lang="en-US" sz="2400" dirty="0" err="1">
                <a:latin typeface="Times New Roman" panose="02020603050405020304" pitchFamily="18" charset="0"/>
                <a:cs typeface="Times New Roman" panose="02020603050405020304" pitchFamily="18" charset="0"/>
              </a:rPr>
              <a:t>MemeSentinel</a:t>
            </a:r>
            <a:r>
              <a:rPr lang="en-US" sz="2400" dirty="0">
                <a:latin typeface="Times New Roman" panose="02020603050405020304" pitchFamily="18" charset="0"/>
                <a:cs typeface="Times New Roman" panose="02020603050405020304" pitchFamily="18" charset="0"/>
              </a:rPr>
              <a:t>-XT framework by combining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XLNet</a:t>
            </a:r>
            <a:r>
              <a:rPr lang="en-US" sz="2400" dirty="0">
                <a:latin typeface="Times New Roman" panose="02020603050405020304" pitchFamily="18" charset="0"/>
                <a:cs typeface="Times New Roman" panose="02020603050405020304" pitchFamily="18" charset="0"/>
              </a:rPr>
              <a:t>, along with the proposed SLIM (</a:t>
            </a:r>
            <a:r>
              <a:rPr lang="en-US" sz="2400" dirty="0" err="1">
                <a:latin typeface="Times New Roman" panose="02020603050405020304" pitchFamily="18" charset="0"/>
                <a:cs typeface="Times New Roman" panose="02020603050405020304" pitchFamily="18" charset="0"/>
              </a:rPr>
              <a:t>Supersparse</a:t>
            </a:r>
            <a:r>
              <a:rPr lang="en-US" sz="2400" dirty="0">
                <a:latin typeface="Times New Roman" panose="02020603050405020304" pitchFamily="18" charset="0"/>
                <a:cs typeface="Times New Roman" panose="02020603050405020304" pitchFamily="18" charset="0"/>
              </a:rPr>
              <a:t> Linear Integer Model) classifier. This integration improved classification accuracy and interpretability compared to traditional methods. The system shows strong potential for real-world content moderation and online safety applications.</a:t>
            </a:r>
          </a:p>
          <a:p>
            <a:pPr algn="just"/>
            <a:endParaRPr lang="en-US" sz="22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Future Enhancements</a:t>
            </a:r>
            <a:endParaRPr lang="en-US" sz="2200" b="1"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Future work can focus on expanding datasets, improving multimodal architectures like CLIP, and enhancing the SLIM model for better performance. Deployment on cloud platforms with multilingual support can enable real-time large-scale monitoring. These improvements will make the system more scalable and globally effective.</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865595"/>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742D-14B1-0C0A-0710-D041594BB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7B1F3-E07F-CAA7-BE31-28EFC25C9AC2}"/>
              </a:ex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References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9CF6E850-109D-6083-72C6-C00BE248136F}"/>
              </a:ex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6468BD72-9807-FB8B-E8C9-1F55058BE070}"/>
              </a:ext>
            </a:extLst>
          </p:cNvPr>
          <p:cNvSpPr>
            <a:spLocks noChangeArrowheads="1"/>
          </p:cNvSpPr>
          <p:nvPr/>
        </p:nvSpPr>
        <p:spPr bwMode="auto">
          <a:xfrm>
            <a:off x="1266126" y="1801625"/>
            <a:ext cx="10446328"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J. Mao et al., “</a:t>
            </a:r>
            <a:r>
              <a:rPr lang="en-IN" sz="2000" i="1" dirty="0">
                <a:latin typeface="Times New Roman" panose="02020603050405020304" pitchFamily="18" charset="0"/>
                <a:cs typeface="Times New Roman" panose="02020603050405020304" pitchFamily="18" charset="0"/>
              </a:rPr>
              <a:t>Self-Attention Fusion Model”</a:t>
            </a:r>
            <a:r>
              <a:rPr lang="en-IN" sz="2000" dirty="0">
                <a:latin typeface="Times New Roman" panose="02020603050405020304" pitchFamily="18" charset="0"/>
                <a:cs typeface="Times New Roman" panose="02020603050405020304" pitchFamily="18" charset="0"/>
              </a:rPr>
              <a:t>, J </a:t>
            </a:r>
            <a:r>
              <a:rPr lang="en-IN" sz="2000" dirty="0" err="1">
                <a:latin typeface="Times New Roman" panose="02020603050405020304" pitchFamily="18" charset="0"/>
                <a:cs typeface="Times New Roman" panose="02020603050405020304" pitchFamily="18" charset="0"/>
              </a:rPr>
              <a:t>Supercomput</a:t>
            </a:r>
            <a:r>
              <a:rPr lang="en-IN" sz="2000" dirty="0">
                <a:latin typeface="Times New Roman" panose="02020603050405020304" pitchFamily="18" charset="0"/>
                <a:cs typeface="Times New Roman" panose="02020603050405020304" pitchFamily="18" charset="0"/>
              </a:rPr>
              <a:t>, 2025.</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 Li et al., “</a:t>
            </a:r>
            <a:r>
              <a:rPr lang="en-IN" sz="2000" i="1" dirty="0">
                <a:latin typeface="Times New Roman" panose="02020603050405020304" pitchFamily="18" charset="0"/>
                <a:cs typeface="Times New Roman" panose="02020603050405020304" pitchFamily="18" charset="0"/>
              </a:rPr>
              <a:t>SVM Hate Speech Detection”</a:t>
            </a:r>
            <a:r>
              <a:rPr lang="en-IN" sz="2000" dirty="0">
                <a:latin typeface="Times New Roman" panose="02020603050405020304" pitchFamily="18" charset="0"/>
                <a:cs typeface="Times New Roman" panose="02020603050405020304" pitchFamily="18" charset="0"/>
              </a:rPr>
              <a:t>, Info., 2025.</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A. Naseeb et al., “</a:t>
            </a:r>
            <a:r>
              <a:rPr lang="en-IN" sz="2000" i="1" dirty="0">
                <a:latin typeface="Times New Roman" panose="02020603050405020304" pitchFamily="18" charset="0"/>
                <a:cs typeface="Times New Roman" panose="02020603050405020304" pitchFamily="18" charset="0"/>
              </a:rPr>
              <a:t>Multi-model Hate Detection”</a:t>
            </a:r>
            <a:r>
              <a:rPr lang="en-IN" sz="2000" dirty="0">
                <a:latin typeface="Times New Roman" panose="02020603050405020304" pitchFamily="18" charset="0"/>
                <a:cs typeface="Times New Roman" panose="02020603050405020304" pitchFamily="18" charset="0"/>
              </a:rPr>
              <a:t>, Algorithms, 2025.</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G. Arya et al., “</a:t>
            </a:r>
            <a:r>
              <a:rPr lang="en-IN" sz="2000" i="1" dirty="0">
                <a:latin typeface="Times New Roman" panose="02020603050405020304" pitchFamily="18" charset="0"/>
                <a:cs typeface="Times New Roman" panose="02020603050405020304" pitchFamily="18" charset="0"/>
              </a:rPr>
              <a:t>CLIP-based Meme Detection”</a:t>
            </a:r>
            <a:r>
              <a:rPr lang="en-IN" sz="2000" dirty="0">
                <a:latin typeface="Times New Roman" panose="02020603050405020304" pitchFamily="18" charset="0"/>
                <a:cs typeface="Times New Roman" panose="02020603050405020304" pitchFamily="18" charset="0"/>
              </a:rPr>
              <a:t>, IEEE Access, 2024.</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K. </a:t>
            </a:r>
            <a:r>
              <a:rPr lang="en-IN" sz="2000" dirty="0" err="1">
                <a:latin typeface="Times New Roman" panose="02020603050405020304" pitchFamily="18" charset="0"/>
                <a:cs typeface="Times New Roman" panose="02020603050405020304" pitchFamily="18" charset="0"/>
              </a:rPr>
              <a:t>Mnassri</a:t>
            </a:r>
            <a:r>
              <a:rPr lang="en-IN" sz="2000" dirty="0">
                <a:latin typeface="Times New Roman" panose="02020603050405020304" pitchFamily="18" charset="0"/>
                <a:cs typeface="Times New Roman" panose="02020603050405020304" pitchFamily="18" charset="0"/>
              </a:rPr>
              <a:t> et al.,  “</a:t>
            </a:r>
            <a:r>
              <a:rPr lang="en-IN" sz="2000" i="1" dirty="0">
                <a:latin typeface="Times New Roman" panose="02020603050405020304" pitchFamily="18" charset="0"/>
                <a:cs typeface="Times New Roman" panose="02020603050405020304" pitchFamily="18" charset="0"/>
              </a:rPr>
              <a:t>Multilingual GAN Model”</a:t>
            </a:r>
            <a:r>
              <a:rPr lang="en-IN" sz="2000" dirty="0">
                <a:latin typeface="Times New Roman" panose="02020603050405020304" pitchFamily="18" charset="0"/>
                <a:cs typeface="Times New Roman" panose="02020603050405020304" pitchFamily="18" charset="0"/>
              </a:rPr>
              <a:t>, Entropy, 2024.</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A. Yadav et al., “</a:t>
            </a:r>
            <a:r>
              <a:rPr lang="en-IN" sz="2000" i="1" dirty="0">
                <a:latin typeface="Times New Roman" panose="02020603050405020304" pitchFamily="18" charset="0"/>
                <a:cs typeface="Times New Roman" panose="02020603050405020304" pitchFamily="18" charset="0"/>
              </a:rPr>
              <a:t>NLP + BERT Models”</a:t>
            </a:r>
            <a:r>
              <a:rPr lang="en-IN" sz="2000" dirty="0">
                <a:latin typeface="Times New Roman" panose="02020603050405020304" pitchFamily="18" charset="0"/>
                <a:cs typeface="Times New Roman" panose="02020603050405020304" pitchFamily="18" charset="0"/>
              </a:rPr>
              <a:t>, Appl. Sci., 2024.</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A. Hamza et al., “</a:t>
            </a:r>
            <a:r>
              <a:rPr lang="en-IN" sz="2000" i="1" dirty="0">
                <a:latin typeface="Times New Roman" panose="02020603050405020304" pitchFamily="18" charset="0"/>
                <a:cs typeface="Times New Roman" panose="02020603050405020304" pitchFamily="18" charset="0"/>
              </a:rPr>
              <a:t>Multimodal Hate Meme Classification”</a:t>
            </a:r>
            <a:r>
              <a:rPr lang="en-IN" sz="2000" dirty="0">
                <a:latin typeface="Times New Roman" panose="02020603050405020304" pitchFamily="18" charset="0"/>
                <a:cs typeface="Times New Roman" panose="02020603050405020304" pitchFamily="18" charset="0"/>
              </a:rPr>
              <a:t>, ACM TALLIP, 2023.</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M.R. Karim et al., “</a:t>
            </a:r>
            <a:r>
              <a:rPr lang="en-IN" sz="2000" i="1" dirty="0">
                <a:latin typeface="Times New Roman" panose="02020603050405020304" pitchFamily="18" charset="0"/>
                <a:cs typeface="Times New Roman" panose="02020603050405020304" pitchFamily="18" charset="0"/>
              </a:rPr>
              <a:t>Bengali Multimodal Hate Detection”</a:t>
            </a:r>
            <a:r>
              <a:rPr lang="en-IN" sz="2000" dirty="0">
                <a:latin typeface="Times New Roman" panose="02020603050405020304" pitchFamily="18" charset="0"/>
                <a:cs typeface="Times New Roman" panose="02020603050405020304" pitchFamily="18" charset="0"/>
              </a:rPr>
              <a:t>, Springer, 2023.</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 Bilal et al., “</a:t>
            </a:r>
            <a:r>
              <a:rPr lang="en-IN" sz="2000" i="1" dirty="0">
                <a:latin typeface="Times New Roman" panose="02020603050405020304" pitchFamily="18" charset="0"/>
                <a:cs typeface="Times New Roman" panose="02020603050405020304" pitchFamily="18" charset="0"/>
              </a:rPr>
              <a:t>Roman Urdu Hate Speech Detection”</a:t>
            </a:r>
            <a:r>
              <a:rPr lang="en-IN" sz="2000" dirty="0">
                <a:latin typeface="Times New Roman" panose="02020603050405020304" pitchFamily="18" charset="0"/>
                <a:cs typeface="Times New Roman" panose="02020603050405020304" pitchFamily="18" charset="0"/>
              </a:rPr>
              <a:t>, Sensors, 2023.</a:t>
            </a:r>
          </a:p>
        </p:txBody>
      </p:sp>
    </p:spTree>
    <p:extLst>
      <p:ext uri="{BB962C8B-B14F-4D97-AF65-F5344CB8AC3E}">
        <p14:creationId xmlns:p14="http://schemas.microsoft.com/office/powerpoint/2010/main" val="273829945"/>
      </p:ex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861FB-4370-1847-B3FD-0C1C6ECD7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8AAE4-DE41-6298-1A42-42AF81F8CF1B}"/>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GitHub Link</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6DD97780-02B0-FD85-E8D1-8A43F7D77543}"/>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F56629F7-501D-5C5D-FD35-5C976B6B97B5}"/>
              </a:ext>
            </a:extLst>
          </p:cNvPr>
          <p:cNvSpPr>
            <a:spLocks noChangeArrowheads="1"/>
          </p:cNvSpPr>
          <p:nvPr/>
        </p:nvSpPr>
        <p:spPr bwMode="auto">
          <a:xfrm>
            <a:off x="685800" y="2864371"/>
            <a:ext cx="10808110" cy="1843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4000" u="sng" dirty="0">
                <a:solidFill>
                  <a:srgbClr val="0070C0"/>
                </a:solidFill>
                <a:latin typeface="Times New Roman" panose="02020603050405020304" pitchFamily="18" charset="0"/>
                <a:cs typeface="Times New Roman" panose="02020603050405020304" pitchFamily="18" charset="0"/>
              </a:rPr>
              <a:t>https://github.com/iamparvezali085/Major-project-A17</a:t>
            </a:r>
            <a:endParaRPr lang="en-IN" sz="4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125351"/>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843994-7F60-D1A6-475F-181822F07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532" y="254000"/>
            <a:ext cx="8682935" cy="6350000"/>
          </a:xfrm>
          <a:prstGeom prst="rect">
            <a:avLst/>
          </a:prstGeom>
        </p:spPr>
      </p:pic>
      <p:pic>
        <p:nvPicPr>
          <p:cNvPr id="6" name="Picture 5" descr="A logo with a flower&#10;&#10;Description automatically generated">
            <a:extLst>
              <a:ext uri="{FF2B5EF4-FFF2-40B4-BE49-F238E27FC236}">
                <a16:creationId xmlns:a16="http://schemas.microsoft.com/office/drawing/2014/main" id="{F4F82E45-FE50-A330-5E0A-9BF93DAEEBFB}"/>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3"/>
          <a:stretch>
            <a:fillRect/>
          </a:stretch>
        </p:blipFill>
        <p:spPr>
          <a:xfrm>
            <a:off x="10714935" y="0"/>
            <a:ext cx="1477065" cy="1251225"/>
          </a:xfrm>
          <a:prstGeom prst="rect">
            <a:avLst/>
          </a:prstGeom>
          <a:noFill/>
        </p:spPr>
      </p:pic>
    </p:spTree>
    <p:extLst>
      <p:ext uri="{BB962C8B-B14F-4D97-AF65-F5344CB8AC3E}">
        <p14:creationId xmlns:p14="http://schemas.microsoft.com/office/powerpoint/2010/main" val="4123699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1163</Words>
  <Application>Microsoft Office PowerPoint</Application>
  <PresentationFormat>Widescreen</PresentationFormat>
  <Paragraphs>124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CMR Technical Campus Department of Information Technology </vt:lpstr>
      <vt:lpstr>Index</vt:lpstr>
      <vt:lpstr>Introduction &amp; Overview</vt:lpstr>
      <vt:lpstr>Existing System </vt:lpstr>
      <vt:lpstr>Existing System Disadvantages </vt:lpstr>
      <vt:lpstr>Proposed System </vt:lpstr>
      <vt:lpstr>Proposed System Advantages </vt:lpstr>
      <vt:lpstr>Hardware and Software Requirements </vt:lpstr>
      <vt:lpstr>Novelty</vt:lpstr>
      <vt:lpstr>PowerPoint Presentation</vt:lpstr>
      <vt:lpstr>Modules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vt:lpstr>
      <vt:lpstr>Results </vt:lpstr>
      <vt:lpstr>Results </vt:lpstr>
      <vt:lpstr>Conclusion and Future Enhancements </vt:lpstr>
      <vt:lpstr>References </vt:lpstr>
      <vt:lpstr>GitHub Link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 Department of Information Technology</dc:title>
  <dc:creator>PARVEZ ALI</dc:creator>
  <cp:lastModifiedBy>PARVEZ ALI</cp:lastModifiedBy>
  <cp:revision>13</cp:revision>
  <dcterms:created xsi:type="dcterms:W3CDTF">2026-01-29T05:07:56Z</dcterms:created>
  <dcterms:modified xsi:type="dcterms:W3CDTF">2026-03-22T11:24:35Z</dcterms:modified>
</cp:coreProperties>
</file>