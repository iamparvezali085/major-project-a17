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1" r:id="rId4"/>
    <p:sldId id="264" r:id="rId5"/>
    <p:sldId id="302" r:id="rId6"/>
    <p:sldId id="303" r:id="rId7"/>
    <p:sldId id="304" r:id="rId8"/>
    <p:sldId id="305" r:id="rId9"/>
    <p:sldId id="306" r:id="rId10"/>
    <p:sldId id="296" r:id="rId11"/>
    <p:sldId id="311" r:id="rId12"/>
    <p:sldId id="297" r:id="rId13"/>
    <p:sldId id="308" r:id="rId14"/>
    <p:sldId id="309" r:id="rId15"/>
    <p:sldId id="310" r:id="rId16"/>
    <p:sldId id="25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75716-45AB-E8CC-B5A9-E23A0D547D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9CDA6EF-CBD1-96D6-1043-2BD7163D02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8610CDD-A864-DFC3-D260-D65FB89AAF8B}"/>
              </a:ext>
            </a:extLst>
          </p:cNvPr>
          <p:cNvSpPr>
            <a:spLocks noGrp="1"/>
          </p:cNvSpPr>
          <p:nvPr>
            <p:ph type="dt" sz="half" idx="10"/>
          </p:nvPr>
        </p:nvSpPr>
        <p:spPr/>
        <p:txBody>
          <a:bodyPr/>
          <a:lstStyle/>
          <a:p>
            <a:fld id="{17FFDB23-7D33-4A85-A4D3-95F298222533}" type="datetimeFigureOut">
              <a:rPr lang="en-IN" smtClean="0"/>
              <a:t>03-02-2026</a:t>
            </a:fld>
            <a:endParaRPr lang="en-IN"/>
          </a:p>
        </p:txBody>
      </p:sp>
      <p:sp>
        <p:nvSpPr>
          <p:cNvPr id="5" name="Footer Placeholder 4">
            <a:extLst>
              <a:ext uri="{FF2B5EF4-FFF2-40B4-BE49-F238E27FC236}">
                <a16:creationId xmlns:a16="http://schemas.microsoft.com/office/drawing/2014/main" id="{16BB5F08-F18A-55B9-3B2E-7FF3651EA6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7FBC49-F50A-EBED-E14D-310479E970A7}"/>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1370280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4BDA7-8B60-3823-A725-1E56EB5EF0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A1BA99-7EB8-6E72-E52F-D39B59014E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1152E4-A383-EC63-4419-F27FE0D71278}"/>
              </a:ext>
            </a:extLst>
          </p:cNvPr>
          <p:cNvSpPr>
            <a:spLocks noGrp="1"/>
          </p:cNvSpPr>
          <p:nvPr>
            <p:ph type="dt" sz="half" idx="10"/>
          </p:nvPr>
        </p:nvSpPr>
        <p:spPr/>
        <p:txBody>
          <a:bodyPr/>
          <a:lstStyle/>
          <a:p>
            <a:fld id="{17FFDB23-7D33-4A85-A4D3-95F298222533}" type="datetimeFigureOut">
              <a:rPr lang="en-IN" smtClean="0"/>
              <a:t>03-02-2026</a:t>
            </a:fld>
            <a:endParaRPr lang="en-IN"/>
          </a:p>
        </p:txBody>
      </p:sp>
      <p:sp>
        <p:nvSpPr>
          <p:cNvPr id="5" name="Footer Placeholder 4">
            <a:extLst>
              <a:ext uri="{FF2B5EF4-FFF2-40B4-BE49-F238E27FC236}">
                <a16:creationId xmlns:a16="http://schemas.microsoft.com/office/drawing/2014/main" id="{52EB0815-888E-5EB9-1769-8C365B959E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4E365A-B839-A8A5-2C40-92F406B9C36A}"/>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2214701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D727-EC7A-7F31-CCED-0D86C4ED5C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10478D5-945D-9A99-C399-ECD5ED1E5E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F497FD-4E55-5A2D-0DAE-BF5E183FF87E}"/>
              </a:ext>
            </a:extLst>
          </p:cNvPr>
          <p:cNvSpPr>
            <a:spLocks noGrp="1"/>
          </p:cNvSpPr>
          <p:nvPr>
            <p:ph type="dt" sz="half" idx="10"/>
          </p:nvPr>
        </p:nvSpPr>
        <p:spPr/>
        <p:txBody>
          <a:bodyPr/>
          <a:lstStyle/>
          <a:p>
            <a:fld id="{17FFDB23-7D33-4A85-A4D3-95F298222533}" type="datetimeFigureOut">
              <a:rPr lang="en-IN" smtClean="0"/>
              <a:t>03-02-2026</a:t>
            </a:fld>
            <a:endParaRPr lang="en-IN"/>
          </a:p>
        </p:txBody>
      </p:sp>
      <p:sp>
        <p:nvSpPr>
          <p:cNvPr id="5" name="Footer Placeholder 4">
            <a:extLst>
              <a:ext uri="{FF2B5EF4-FFF2-40B4-BE49-F238E27FC236}">
                <a16:creationId xmlns:a16="http://schemas.microsoft.com/office/drawing/2014/main" id="{C2F5112F-3323-BA31-D952-1C9E47912C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F7239D-F2BC-F777-C96E-0A08FE3A1B59}"/>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3921800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DFA1B-5E5C-499F-2101-305A33B478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B84F41-F312-4ED3-5FAD-F72C45A7B0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50FC96E-4577-CF24-521F-1F05D38A66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C5B98EC-2147-41AA-7F8E-7ADF3CA89EB5}"/>
              </a:ext>
            </a:extLst>
          </p:cNvPr>
          <p:cNvSpPr>
            <a:spLocks noGrp="1"/>
          </p:cNvSpPr>
          <p:nvPr>
            <p:ph type="dt" sz="half" idx="10"/>
          </p:nvPr>
        </p:nvSpPr>
        <p:spPr/>
        <p:txBody>
          <a:bodyPr/>
          <a:lstStyle/>
          <a:p>
            <a:fld id="{17FFDB23-7D33-4A85-A4D3-95F298222533}" type="datetimeFigureOut">
              <a:rPr lang="en-IN" smtClean="0"/>
              <a:t>03-02-2026</a:t>
            </a:fld>
            <a:endParaRPr lang="en-IN"/>
          </a:p>
        </p:txBody>
      </p:sp>
      <p:sp>
        <p:nvSpPr>
          <p:cNvPr id="6" name="Footer Placeholder 5">
            <a:extLst>
              <a:ext uri="{FF2B5EF4-FFF2-40B4-BE49-F238E27FC236}">
                <a16:creationId xmlns:a16="http://schemas.microsoft.com/office/drawing/2014/main" id="{F3FFDA25-46B3-C15F-2117-5E9B8B6B1C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43D52F-6F2C-107D-09E4-027473590678}"/>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917223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FCC84-ED82-884D-7117-0368C4AD25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1A2FEE-F610-7CBA-C542-D3F7522C72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4DA093-E660-8CC6-0A92-580059AC49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C486DD-44C5-6F74-E9E8-9D882D354F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CA23B8-FB9A-3237-9B4B-09E168520C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8DB1B66-328B-1F01-3B38-0501CB2BDEA4}"/>
              </a:ext>
            </a:extLst>
          </p:cNvPr>
          <p:cNvSpPr>
            <a:spLocks noGrp="1"/>
          </p:cNvSpPr>
          <p:nvPr>
            <p:ph type="dt" sz="half" idx="10"/>
          </p:nvPr>
        </p:nvSpPr>
        <p:spPr/>
        <p:txBody>
          <a:bodyPr/>
          <a:lstStyle/>
          <a:p>
            <a:fld id="{17FFDB23-7D33-4A85-A4D3-95F298222533}" type="datetimeFigureOut">
              <a:rPr lang="en-IN" smtClean="0"/>
              <a:t>03-02-2026</a:t>
            </a:fld>
            <a:endParaRPr lang="en-IN"/>
          </a:p>
        </p:txBody>
      </p:sp>
      <p:sp>
        <p:nvSpPr>
          <p:cNvPr id="8" name="Footer Placeholder 7">
            <a:extLst>
              <a:ext uri="{FF2B5EF4-FFF2-40B4-BE49-F238E27FC236}">
                <a16:creationId xmlns:a16="http://schemas.microsoft.com/office/drawing/2014/main" id="{76EE1BAB-ECCD-DC39-AF15-F0D53E70BC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4E38526-796F-1B7D-D84B-1EE10AAFF21A}"/>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1836994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BB33E-ACDC-838C-4AFC-32C95E0D39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B532B01-98C9-0705-6A38-04296FBFFC83}"/>
              </a:ext>
            </a:extLst>
          </p:cNvPr>
          <p:cNvSpPr>
            <a:spLocks noGrp="1"/>
          </p:cNvSpPr>
          <p:nvPr>
            <p:ph type="dt" sz="half" idx="10"/>
          </p:nvPr>
        </p:nvSpPr>
        <p:spPr/>
        <p:txBody>
          <a:bodyPr/>
          <a:lstStyle/>
          <a:p>
            <a:fld id="{17FFDB23-7D33-4A85-A4D3-95F298222533}" type="datetimeFigureOut">
              <a:rPr lang="en-IN" smtClean="0"/>
              <a:t>03-02-2026</a:t>
            </a:fld>
            <a:endParaRPr lang="en-IN"/>
          </a:p>
        </p:txBody>
      </p:sp>
      <p:sp>
        <p:nvSpPr>
          <p:cNvPr id="4" name="Footer Placeholder 3">
            <a:extLst>
              <a:ext uri="{FF2B5EF4-FFF2-40B4-BE49-F238E27FC236}">
                <a16:creationId xmlns:a16="http://schemas.microsoft.com/office/drawing/2014/main" id="{73DE30DF-EE01-A4A1-1E6B-B2C4536C0B3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679D907-6C6B-7501-24D9-00BC8A64AFDD}"/>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1546266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7B701A-CE3D-8395-C5EA-32CEF2A40BBE}"/>
              </a:ext>
            </a:extLst>
          </p:cNvPr>
          <p:cNvSpPr>
            <a:spLocks noGrp="1"/>
          </p:cNvSpPr>
          <p:nvPr>
            <p:ph type="dt" sz="half" idx="10"/>
          </p:nvPr>
        </p:nvSpPr>
        <p:spPr/>
        <p:txBody>
          <a:bodyPr/>
          <a:lstStyle/>
          <a:p>
            <a:fld id="{17FFDB23-7D33-4A85-A4D3-95F298222533}" type="datetimeFigureOut">
              <a:rPr lang="en-IN" smtClean="0"/>
              <a:t>03-02-2026</a:t>
            </a:fld>
            <a:endParaRPr lang="en-IN"/>
          </a:p>
        </p:txBody>
      </p:sp>
      <p:sp>
        <p:nvSpPr>
          <p:cNvPr id="3" name="Footer Placeholder 2">
            <a:extLst>
              <a:ext uri="{FF2B5EF4-FFF2-40B4-BE49-F238E27FC236}">
                <a16:creationId xmlns:a16="http://schemas.microsoft.com/office/drawing/2014/main" id="{82391F30-59C5-7997-FA80-EDE895A03FD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9BCCADD-C6D4-46B9-A455-563658BC50B7}"/>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3640905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4F62F-D3AD-8DD8-592E-B7849BE632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2759D56-688B-C454-9E97-8DF69A0656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00BC653-0870-15B5-1EF2-F55602F97C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24BFD4-B0CF-0C6E-2D58-A478F35988E7}"/>
              </a:ext>
            </a:extLst>
          </p:cNvPr>
          <p:cNvSpPr>
            <a:spLocks noGrp="1"/>
          </p:cNvSpPr>
          <p:nvPr>
            <p:ph type="dt" sz="half" idx="10"/>
          </p:nvPr>
        </p:nvSpPr>
        <p:spPr/>
        <p:txBody>
          <a:bodyPr/>
          <a:lstStyle/>
          <a:p>
            <a:fld id="{17FFDB23-7D33-4A85-A4D3-95F298222533}" type="datetimeFigureOut">
              <a:rPr lang="en-IN" smtClean="0"/>
              <a:t>03-02-2026</a:t>
            </a:fld>
            <a:endParaRPr lang="en-IN"/>
          </a:p>
        </p:txBody>
      </p:sp>
      <p:sp>
        <p:nvSpPr>
          <p:cNvPr id="6" name="Footer Placeholder 5">
            <a:extLst>
              <a:ext uri="{FF2B5EF4-FFF2-40B4-BE49-F238E27FC236}">
                <a16:creationId xmlns:a16="http://schemas.microsoft.com/office/drawing/2014/main" id="{CD77BC03-35D8-E38D-A367-4596B06516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161D12-B7AD-AEFB-DA47-88DA12D16FC9}"/>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4251739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CA14F-B250-2BC8-0330-281CB0B2EC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56567EA-D35C-D052-B303-1AE4FBD1BE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C1C0125-1617-3A00-A211-B39B89055E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EA7721-DF32-83E5-4EF2-586595FE14B5}"/>
              </a:ext>
            </a:extLst>
          </p:cNvPr>
          <p:cNvSpPr>
            <a:spLocks noGrp="1"/>
          </p:cNvSpPr>
          <p:nvPr>
            <p:ph type="dt" sz="half" idx="10"/>
          </p:nvPr>
        </p:nvSpPr>
        <p:spPr/>
        <p:txBody>
          <a:bodyPr/>
          <a:lstStyle/>
          <a:p>
            <a:fld id="{17FFDB23-7D33-4A85-A4D3-95F298222533}" type="datetimeFigureOut">
              <a:rPr lang="en-IN" smtClean="0"/>
              <a:t>03-02-2026</a:t>
            </a:fld>
            <a:endParaRPr lang="en-IN"/>
          </a:p>
        </p:txBody>
      </p:sp>
      <p:sp>
        <p:nvSpPr>
          <p:cNvPr id="6" name="Footer Placeholder 5">
            <a:extLst>
              <a:ext uri="{FF2B5EF4-FFF2-40B4-BE49-F238E27FC236}">
                <a16:creationId xmlns:a16="http://schemas.microsoft.com/office/drawing/2014/main" id="{18283E26-1C9F-E151-D269-0205F73AF0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988C3A-80C1-4668-D49E-1DEE10698906}"/>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3023030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B0792-19F3-B742-8EF7-E8B7C5B25D6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A43BB7-56B9-0845-32CE-D5CAB7078B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840964-6687-3A62-20AE-521999C1D6F0}"/>
              </a:ext>
            </a:extLst>
          </p:cNvPr>
          <p:cNvSpPr>
            <a:spLocks noGrp="1"/>
          </p:cNvSpPr>
          <p:nvPr>
            <p:ph type="dt" sz="half" idx="10"/>
          </p:nvPr>
        </p:nvSpPr>
        <p:spPr/>
        <p:txBody>
          <a:bodyPr/>
          <a:lstStyle/>
          <a:p>
            <a:fld id="{17FFDB23-7D33-4A85-A4D3-95F298222533}" type="datetimeFigureOut">
              <a:rPr lang="en-IN" smtClean="0"/>
              <a:t>03-02-2026</a:t>
            </a:fld>
            <a:endParaRPr lang="en-IN"/>
          </a:p>
        </p:txBody>
      </p:sp>
      <p:sp>
        <p:nvSpPr>
          <p:cNvPr id="5" name="Footer Placeholder 4">
            <a:extLst>
              <a:ext uri="{FF2B5EF4-FFF2-40B4-BE49-F238E27FC236}">
                <a16:creationId xmlns:a16="http://schemas.microsoft.com/office/drawing/2014/main" id="{2922850C-619D-3CA3-C265-EA180A2892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32F644-5BE9-02DA-D6EB-2B2F96B291E1}"/>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1302747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16FFFD-6BFC-3EF8-B15E-30B1945E57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63C0E5-C69D-D726-664C-07227544E0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7E912C-53A2-4F31-AC54-24DABA5B408C}"/>
              </a:ext>
            </a:extLst>
          </p:cNvPr>
          <p:cNvSpPr>
            <a:spLocks noGrp="1"/>
          </p:cNvSpPr>
          <p:nvPr>
            <p:ph type="dt" sz="half" idx="10"/>
          </p:nvPr>
        </p:nvSpPr>
        <p:spPr/>
        <p:txBody>
          <a:bodyPr/>
          <a:lstStyle/>
          <a:p>
            <a:fld id="{17FFDB23-7D33-4A85-A4D3-95F298222533}" type="datetimeFigureOut">
              <a:rPr lang="en-IN" smtClean="0"/>
              <a:t>03-02-2026</a:t>
            </a:fld>
            <a:endParaRPr lang="en-IN"/>
          </a:p>
        </p:txBody>
      </p:sp>
      <p:sp>
        <p:nvSpPr>
          <p:cNvPr id="5" name="Footer Placeholder 4">
            <a:extLst>
              <a:ext uri="{FF2B5EF4-FFF2-40B4-BE49-F238E27FC236}">
                <a16:creationId xmlns:a16="http://schemas.microsoft.com/office/drawing/2014/main" id="{6C2E4B02-8510-05B5-3924-6E05562B9B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3B2F04-AC5D-12DC-3AE8-0253E8E305D2}"/>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1742326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EA0FBA-8952-AF34-5A01-CF7E524BDD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C68519-66C7-90A1-37D3-FE9E762209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7DE97A-0616-4746-9783-C8B1FB12F5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FFDB23-7D33-4A85-A4D3-95F298222533}" type="datetimeFigureOut">
              <a:rPr lang="en-IN" smtClean="0"/>
              <a:t>03-02-2026</a:t>
            </a:fld>
            <a:endParaRPr lang="en-IN"/>
          </a:p>
        </p:txBody>
      </p:sp>
      <p:sp>
        <p:nvSpPr>
          <p:cNvPr id="5" name="Footer Placeholder 4">
            <a:extLst>
              <a:ext uri="{FF2B5EF4-FFF2-40B4-BE49-F238E27FC236}">
                <a16:creationId xmlns:a16="http://schemas.microsoft.com/office/drawing/2014/main" id="{9DBDB458-2507-9DD7-32BA-17CC47843E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CD628C6-16F2-0019-717D-31D9FEB725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78D775-1746-4231-A7EA-04945AB66017}" type="slidenum">
              <a:rPr lang="en-IN" smtClean="0"/>
              <a:t>‹#›</a:t>
            </a:fld>
            <a:endParaRPr lang="en-IN"/>
          </a:p>
        </p:txBody>
      </p:sp>
    </p:spTree>
    <p:extLst>
      <p:ext uri="{BB962C8B-B14F-4D97-AF65-F5344CB8AC3E}">
        <p14:creationId xmlns:p14="http://schemas.microsoft.com/office/powerpoint/2010/main" val="34619766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image" Target="../media/image5.png"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image" Target="../media/image7.jpg"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ED9CA6FB-DE42-4BBF-B4CC-A8AA522E8B5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9AE46D0-2C0D-41E8-BAE2-F3638818AEBE}"/>
              </a:ext>
            </a:extLst>
          </p:cNvPr>
          <p:cNvSpPr>
            <a:spLocks noGrp="1"/>
          </p:cNvSpPr>
          <p:nvPr>
            <p:ph type="title"/>
          </p:nvPr>
        </p:nvSpPr>
        <p:spPr>
          <a:xfrm>
            <a:off x="2907262" y="-142233"/>
            <a:ext cx="6800489" cy="2178332"/>
          </a:xfrm>
        </p:spPr>
        <p:txBody>
          <a:bodyPr rtlCol="0">
            <a:normAutofit/>
          </a:bodyPr>
          <a:lstStyle/>
          <a:p>
            <a:r>
              <a:rPr lang="en-US" sz="2800" b="1" dirty="0">
                <a:latin typeface="Times New Roman"/>
              </a:rPr>
              <a:t>CMR Technical Campus</a:t>
            </a:r>
            <a:br>
              <a:rPr lang="en-US" sz="2800" b="1" dirty="0">
                <a:latin typeface="Times New Roman"/>
              </a:rPr>
            </a:br>
            <a:r>
              <a:rPr lang="en-US" sz="2800" b="1" dirty="0">
                <a:latin typeface="Times New Roman"/>
              </a:rPr>
              <a:t>Department of Information Technology</a:t>
            </a:r>
          </a:p>
          <a:p>
            <a:endParaRPr lang="en-US" sz="4400" dirty="0"/>
          </a:p>
        </p:txBody>
      </p:sp>
      <p:pic>
        <p:nvPicPr>
          <p:cNvPr id="3" name="Picture 7" descr="A logo with a flower&#10;&#10;Description automatically generated">
            <a:extLst>
              <a:ext uri="{4D361329-0F30-4A96-88F2-EE23789D81C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2"/>
          <a:stretch>
            <a:fillRect/>
          </a:stretch>
        </p:blipFill>
        <p:spPr>
          <a:xfrm>
            <a:off x="453887" y="196690"/>
            <a:ext cx="1961896" cy="1701172"/>
          </a:xfrm>
          <a:prstGeom prst="rect">
            <a:avLst/>
          </a:prstGeom>
          <a:noFill/>
        </p:spPr>
      </p:pic>
      <p:sp>
        <p:nvSpPr>
          <p:cNvPr id="4" name="TextBox 8">
            <a:extLst>
              <a:ext uri="{2A500AD5-FA03-4398-9DFF-C747D18F3A2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6CBB913-720E-4E53-B62B-E5FBE86EE078}"/>
              </a:ext>
            </a:extLst>
          </p:cNvPr>
          <p:cNvSpPr txBox="1"/>
          <p:nvPr/>
        </p:nvSpPr>
        <p:spPr>
          <a:xfrm>
            <a:off x="3886200" y="1436197"/>
            <a:ext cx="5111152" cy="461665"/>
          </a:xfrm>
          <a:prstGeom prst="rect">
            <a:avLst/>
          </a:prstGeom>
          <a:noFill/>
        </p:spPr>
        <p:txBody>
          <a:bodyPr vert="horz" wrap="square" lIns="91440" tIns="45720" rIns="91440" bIns="45720" numCol="1" spcCol="0" rtlCol="0" anchor="t">
            <a:spAutoFit/>
          </a:bodyPr>
          <a:lstStyle/>
          <a:p>
            <a:r>
              <a:rPr lang="en-US" sz="2400" b="1" dirty="0">
                <a:latin typeface="Times New Roman"/>
              </a:rPr>
              <a:t>Major Project Stage – 2 Review -1</a:t>
            </a:r>
          </a:p>
        </p:txBody>
      </p:sp>
      <p:sp>
        <p:nvSpPr>
          <p:cNvPr id="5" name="TextBox 9">
            <a:extLst>
              <a:ext uri="{4F53AC70-5DEA-4B5D-8934-E99555E63DE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82025FF-B4C6-4B50-918B-E847E7570A2F}"/>
              </a:ext>
            </a:extLst>
          </p:cNvPr>
          <p:cNvSpPr txBox="1"/>
          <p:nvPr/>
        </p:nvSpPr>
        <p:spPr>
          <a:xfrm>
            <a:off x="291701" y="2530181"/>
            <a:ext cx="11608597" cy="400110"/>
          </a:xfrm>
          <a:prstGeom prst="rect">
            <a:avLst/>
          </a:prstGeom>
          <a:noFill/>
        </p:spPr>
        <p:txBody>
          <a:bodyPr vert="horz" wrap="square" lIns="91440" tIns="45720" rIns="91440" bIns="45720" numCol="1" spcCol="0" rtlCol="0" anchor="t">
            <a:spAutoFit/>
          </a:bodyPr>
          <a:lstStyle/>
          <a:p>
            <a:pPr algn="ctr"/>
            <a:r>
              <a:rPr lang="en-US" sz="2000" b="1" u="sng" dirty="0">
                <a:latin typeface="Times New Roman" panose="02020603050405020304" pitchFamily="18" charset="0"/>
                <a:cs typeface="Times New Roman" panose="02020603050405020304" pitchFamily="18" charset="0"/>
              </a:rPr>
              <a:t>Project Title</a:t>
            </a:r>
            <a:r>
              <a:rPr lang="en-US" sz="2000" b="1" dirty="0">
                <a:latin typeface="Times New Roman" panose="02020603050405020304" pitchFamily="18" charset="0"/>
                <a:cs typeface="Times New Roman" panose="02020603050405020304" pitchFamily="18" charset="0"/>
              </a:rPr>
              <a:t>: Multimodal Analysis of Hate Speech Detection in Memes using meme sentinel-XT</a:t>
            </a:r>
          </a:p>
        </p:txBody>
      </p:sp>
      <p:sp>
        <p:nvSpPr>
          <p:cNvPr id="6" name="TextBox 10">
            <a:extLst>
              <a:ext uri="{CD55773D-57A6-4083-8720-960C80B43B1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C915C5-87DA-4BCF-A7B4-630F42D4A5E5}"/>
              </a:ext>
            </a:extLst>
          </p:cNvPr>
          <p:cNvSpPr txBox="1"/>
          <p:nvPr/>
        </p:nvSpPr>
        <p:spPr>
          <a:xfrm>
            <a:off x="396816" y="3726981"/>
            <a:ext cx="4316998" cy="1015663"/>
          </a:xfrm>
          <a:prstGeom prst="rect">
            <a:avLst/>
          </a:prstGeom>
          <a:noFill/>
        </p:spPr>
        <p:txBody>
          <a:bodyPr vert="horz" wrap="square" lIns="91440" tIns="45720" rIns="91440" bIns="45720" numCol="1" spcCol="0" rtlCol="0" anchor="t">
            <a:spAutoFit/>
          </a:bodyPr>
          <a:lstStyle/>
          <a:p>
            <a:r>
              <a:rPr lang="en-US" sz="2000" b="1" dirty="0">
                <a:solidFill>
                  <a:srgbClr val="00B0F0"/>
                </a:solidFill>
                <a:latin typeface="Times New Roman"/>
              </a:rPr>
              <a:t>Project Supervisor:</a:t>
            </a:r>
            <a:r>
              <a:rPr lang="en-US" sz="2000" dirty="0">
                <a:latin typeface="Times New Roman"/>
              </a:rPr>
              <a:t>​</a:t>
            </a:r>
          </a:p>
          <a:p>
            <a:r>
              <a:rPr lang="en-US" sz="2000" b="1" dirty="0">
                <a:solidFill>
                  <a:srgbClr val="002060"/>
                </a:solidFill>
                <a:latin typeface="Times New Roman"/>
              </a:rPr>
              <a:t>Name:</a:t>
            </a:r>
            <a:r>
              <a:rPr lang="en-US" sz="2000" dirty="0">
                <a:latin typeface="Times New Roman"/>
              </a:rPr>
              <a:t>​  M. Ramesh Babu</a:t>
            </a:r>
          </a:p>
          <a:p>
            <a:r>
              <a:rPr lang="en-US" sz="2000" b="1" dirty="0">
                <a:solidFill>
                  <a:srgbClr val="002060"/>
                </a:solidFill>
                <a:latin typeface="Times New Roman"/>
              </a:rPr>
              <a:t>Designation:</a:t>
            </a:r>
            <a:r>
              <a:rPr lang="en-US" sz="2000" dirty="0">
                <a:solidFill>
                  <a:srgbClr val="002060"/>
                </a:solidFill>
                <a:latin typeface="Times New Roman"/>
              </a:rPr>
              <a:t> </a:t>
            </a:r>
            <a:r>
              <a:rPr lang="en-US" sz="2000" dirty="0">
                <a:latin typeface="Times New Roman" panose="02020603050405020304" pitchFamily="18" charset="0"/>
                <a:cs typeface="Times New Roman" panose="02020603050405020304" pitchFamily="18" charset="0"/>
              </a:rPr>
              <a:t>Assistant Professor</a:t>
            </a:r>
            <a:endParaRPr lang="en-US" dirty="0">
              <a:solidFill>
                <a:srgbClr val="002060"/>
              </a:solidFill>
              <a:latin typeface="Times New Roman"/>
            </a:endParaRPr>
          </a:p>
        </p:txBody>
      </p:sp>
      <p:sp>
        <p:nvSpPr>
          <p:cNvPr id="7" name="TextBox 1">
            <a:extLst>
              <a:ext uri="{27677EEE-2C43-4AEE-A1AA-F0A7D37C0AE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0D04DD5-17EA-4D4F-854B-FE67B484A46C}"/>
              </a:ext>
            </a:extLst>
          </p:cNvPr>
          <p:cNvSpPr txBox="1"/>
          <p:nvPr/>
        </p:nvSpPr>
        <p:spPr>
          <a:xfrm>
            <a:off x="5334000" y="3726981"/>
            <a:ext cx="6461184" cy="1938992"/>
          </a:xfrm>
          <a:prstGeom prst="rect">
            <a:avLst/>
          </a:prstGeom>
          <a:noFill/>
        </p:spPr>
        <p:txBody>
          <a:bodyPr vert="horz" wrap="square" lIns="91440" tIns="45720" rIns="91440" bIns="45720" numCol="1" spcCol="0" rtlCol="0" anchor="t">
            <a:spAutoFit/>
          </a:bodyPr>
          <a:lstStyle/>
          <a:p>
            <a:r>
              <a:rPr lang="en-US" sz="2000" b="1" dirty="0">
                <a:solidFill>
                  <a:srgbClr val="00B0F0"/>
                </a:solidFill>
                <a:latin typeface="Times New Roman"/>
              </a:rPr>
              <a:t>Presented By:</a:t>
            </a:r>
            <a:r>
              <a:rPr lang="en-US" sz="2000" dirty="0">
                <a:latin typeface="Times New Roman"/>
              </a:rPr>
              <a:t>​</a:t>
            </a:r>
          </a:p>
          <a:p>
            <a:r>
              <a:rPr lang="en-US" sz="2000" b="1" dirty="0">
                <a:latin typeface="Times New Roman"/>
              </a:rPr>
              <a:t>Batch No: 17</a:t>
            </a:r>
            <a:endParaRPr lang="en-US" sz="2000" dirty="0">
              <a:latin typeface="Times New Roman"/>
            </a:endParaRPr>
          </a:p>
          <a:p>
            <a:pPr marL="342900" indent="-342900">
              <a:buFont typeface=""/>
              <a:buAutoNum type="arabicPeriod"/>
            </a:pPr>
            <a:r>
              <a:rPr lang="en-US" sz="2000" dirty="0">
                <a:latin typeface="Times New Roman"/>
              </a:rPr>
              <a:t>H. No: 237R5A1203                Name: B. Shivaram</a:t>
            </a:r>
          </a:p>
          <a:p>
            <a:pPr marL="342900" indent="-342900">
              <a:buFont typeface=""/>
              <a:buAutoNum type="arabicPeriod"/>
            </a:pPr>
            <a:r>
              <a:rPr lang="en-US" sz="2000" dirty="0">
                <a:latin typeface="Times New Roman"/>
              </a:rPr>
              <a:t>H. No: 227R1A1241                Name: Mohammed Parvez</a:t>
            </a:r>
          </a:p>
          <a:p>
            <a:pPr marL="342900" indent="-342900">
              <a:buFont typeface=""/>
              <a:buAutoNum type="arabicPeriod"/>
            </a:pPr>
            <a:r>
              <a:rPr lang="en-US" sz="2000" dirty="0">
                <a:latin typeface="Times New Roman"/>
              </a:rPr>
              <a:t>H. No: 227R1A1209                Name: A. Anil</a:t>
            </a:r>
          </a:p>
          <a:p>
            <a:endParaRPr lang="en-US" sz="2000" dirty="0">
              <a:latin typeface="Times New Roman"/>
            </a:endParaRPr>
          </a:p>
        </p:txBody>
      </p:sp>
      <p:cxnSp>
        <p:nvCxnSpPr>
          <p:cNvPr id="10" name="Straight Connector 9">
            <a:extLst>
              <a:ext uri="{FF2B5EF4-FFF2-40B4-BE49-F238E27FC236}">
                <a16:creationId xmlns:a16="http://schemas.microsoft.com/office/drawing/2014/main" id="{507099C1-FB4F-E586-E7C9-A2E4C2BD8134}"/>
              </a:ext>
            </a:extLst>
          </p:cNvPr>
          <p:cNvCxnSpPr>
            <a:cxnSpLocks/>
          </p:cNvCxnSpPr>
          <p:nvPr/>
        </p:nvCxnSpPr>
        <p:spPr>
          <a:xfrm>
            <a:off x="0" y="2133600"/>
            <a:ext cx="12192000" cy="0"/>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5C917A-3597-451A-80EB-D4E351436A66}">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8A010AAA-3BC9-467C-9EDE-E1DDB94953F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3574B09-CB82-4FBE-9900-09375FF6D4B6}"/>
              </a:ext>
            </a:extLst>
          </p:cNvPr>
          <p:cNvSpPr>
            <a:spLocks noGrp="1"/>
          </p:cNvSpPr>
          <p:nvPr>
            <p:ph type="title"/>
          </p:nvPr>
        </p:nvSpPr>
        <p:spPr>
          <a:xfrm>
            <a:off x="838200" y="365121"/>
            <a:ext cx="10515600" cy="1325565"/>
          </a:xfrm>
        </p:spPr>
        <p:txBody>
          <a:bodyPr rtlCol="0"/>
          <a:lstStyle/>
          <a:p>
            <a:r>
              <a:rPr lang="en-US" b="1" dirty="0">
                <a:latin typeface="Times New Roman"/>
              </a:rPr>
              <a:t>Index</a:t>
            </a:r>
          </a:p>
        </p:txBody>
      </p:sp>
      <p:pic>
        <p:nvPicPr>
          <p:cNvPr id="3" name="Content Placeholder 3" descr="A logo with a flower&#10;&#10;Description automatically generated">
            <a:extLst>
              <a:ext uri="{48B47300-C04B-465C-B97B-4EC5B42E1C9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F0F8C0E-DA55-4C2D-867E-6EE4CDEAE5CB}"/>
              </a:ext>
            </a:extLst>
          </p:cNvPr>
          <p:cNvPicPr>
            <a:picLocks noGrp="1" noChangeAspect="1"/>
          </p:cNvPicPr>
          <p:nvPr>
            <p:ph idx="1"/>
          </p:nvPr>
        </p:nvPicPr>
        <p:blipFill>
          <a:blip r:embed="rId2"/>
          <a:stretch>
            <a:fillRect/>
          </a:stretch>
        </p:blipFill>
        <p:spPr>
          <a:xfrm>
            <a:off x="10714935" y="0"/>
            <a:ext cx="1477065" cy="1251225"/>
          </a:xfrm>
          <a:noFill/>
        </p:spPr>
      </p:pic>
      <p:sp>
        <p:nvSpPr>
          <p:cNvPr id="4" name="TextBox 4">
            <a:extLst>
              <a:ext uri="{ADF364D0-11AE-4F37-BE70-5377F01BE35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DFD9D21-7056-4C17-8E22-B57420FC5909}"/>
              </a:ext>
            </a:extLst>
          </p:cNvPr>
          <p:cNvSpPr txBox="1"/>
          <p:nvPr/>
        </p:nvSpPr>
        <p:spPr>
          <a:xfrm>
            <a:off x="762000" y="1720840"/>
            <a:ext cx="11270972" cy="3785652"/>
          </a:xfrm>
          <a:prstGeom prst="rect">
            <a:avLst/>
          </a:prstGeom>
          <a:noFill/>
        </p:spPr>
        <p:txBody>
          <a:bodyPr vert="horz" wrap="square" lIns="91440" tIns="45720" rIns="91440" bIns="45720" numCol="1" spcCol="0" rtlCol="0" anchor="t">
            <a:spAutoFit/>
          </a:bodyPr>
          <a:lstStyle/>
          <a:p>
            <a:pPr marL="228600" indent="-228600">
              <a:buFont typeface=""/>
              <a:buChar char="•"/>
            </a:pPr>
            <a:r>
              <a:rPr lang="en-IN" sz="2400" dirty="0">
                <a:latin typeface="Times New Roman" panose="02020603050405020304" pitchFamily="18" charset="0"/>
                <a:cs typeface="Times New Roman" panose="02020603050405020304" pitchFamily="18" charset="0"/>
              </a:rPr>
              <a:t>Introduction and Overview</a:t>
            </a:r>
          </a:p>
          <a:p>
            <a:pPr marL="228600" indent="-228600">
              <a:buFont typeface=""/>
              <a:buChar char="•"/>
            </a:pPr>
            <a:r>
              <a:rPr lang="en-IN" sz="2400" dirty="0">
                <a:latin typeface="Times New Roman" panose="02020603050405020304" pitchFamily="18" charset="0"/>
                <a:cs typeface="Times New Roman" panose="02020603050405020304" pitchFamily="18" charset="0"/>
              </a:rPr>
              <a:t>Existing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Disadvantages of Existing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Proposed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Advantages of Proposed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Hardware and Software Requirements</a:t>
            </a:r>
          </a:p>
          <a:p>
            <a:pPr marL="228600" indent="-228600">
              <a:buFont typeface=""/>
              <a:buChar char="•"/>
            </a:pPr>
            <a:r>
              <a:rPr lang="en-IN" sz="2400" dirty="0">
                <a:latin typeface="Times New Roman" panose="02020603050405020304" pitchFamily="18" charset="0"/>
                <a:cs typeface="Times New Roman" panose="02020603050405020304" pitchFamily="18" charset="0"/>
              </a:rPr>
              <a:t>Novelty of the Project</a:t>
            </a:r>
          </a:p>
          <a:p>
            <a:pPr marL="228600" indent="-228600">
              <a:buFont typeface=""/>
              <a:buChar char="•"/>
            </a:pPr>
            <a:r>
              <a:rPr lang="en-IN" sz="2400" dirty="0">
                <a:latin typeface="Times New Roman" panose="02020603050405020304" pitchFamily="18" charset="0"/>
                <a:cs typeface="Times New Roman" panose="02020603050405020304" pitchFamily="18" charset="0"/>
              </a:rPr>
              <a:t>System Architecture </a:t>
            </a:r>
          </a:p>
          <a:p>
            <a:pPr marL="228600" indent="-228600">
              <a:buFont typeface=""/>
              <a:buChar char="•"/>
            </a:pPr>
            <a:r>
              <a:rPr lang="en-IN" sz="2400" dirty="0">
                <a:latin typeface="Times New Roman" panose="02020603050405020304" pitchFamily="18" charset="0"/>
                <a:cs typeface="Times New Roman" panose="02020603050405020304" pitchFamily="18" charset="0"/>
              </a:rPr>
              <a:t>Modules </a:t>
            </a:r>
          </a:p>
          <a:p>
            <a:pPr marL="228600" indent="-228600">
              <a:buFont typeface=""/>
              <a:buChar char="•"/>
            </a:pPr>
            <a:r>
              <a:rPr lang="en-IN" sz="2400" dirty="0">
                <a:latin typeface="Times New Roman" panose="02020603050405020304" pitchFamily="18" charset="0"/>
                <a:cs typeface="Times New Roman" panose="02020603050405020304" pitchFamily="18" charset="0"/>
              </a:rPr>
              <a:t>UML Diagrams</a:t>
            </a:r>
          </a:p>
        </p:txBody>
      </p:sp>
    </p:spTree>
    <p:extLst>
      <p:ext uri="{0561CC85-A534-4E96-A9C6-0329ECF585B2}">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A277E54-58E9-49F5-80C7-741F5415805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71269BA-A2DE-4CA4-82B2-716B0B897011}"/>
              </a:ext>
            </a:extLst>
          </p:cNvPr>
          <p:cNvSpPr>
            <a:spLocks noGrp="1"/>
          </p:cNvSpPr>
          <p:nvPr>
            <p:ph type="title"/>
          </p:nvPr>
        </p:nvSpPr>
        <p:spPr>
          <a:xfrm>
            <a:off x="381000" y="304800"/>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Introduction &amp; Overview</a:t>
            </a:r>
          </a:p>
        </p:txBody>
      </p:sp>
      <p:pic>
        <p:nvPicPr>
          <p:cNvPr id="4" name="Picture 3" descr="A logo with a flower&#10;&#10;Description automatically generated">
            <a:extLst>
              <a:ext uri="{93949CE7-2A42-42B0-B202-78F8FB2E065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8C88C13-8C45-4BF0-90D2-FCE813201090}"/>
              </a:ext>
            </a:extLst>
          </p:cNvPr>
          <p:cNvPicPr>
            <a:picLocks noGrp="1" noChangeAspect="1"/>
          </p:cNvPicPr>
          <p:nvPr/>
        </p:nvPicPr>
        <p:blipFill>
          <a:blip r:embed="rId2"/>
          <a:stretch>
            <a:fillRect/>
          </a:stretch>
        </p:blipFill>
        <p:spPr>
          <a:xfrm>
            <a:off x="10714935" y="0"/>
            <a:ext cx="1477065" cy="1251225"/>
          </a:xfrm>
          <a:prstGeom prst="rect">
            <a:avLst/>
          </a:prstGeom>
          <a:noFill/>
        </p:spPr>
      </p:pic>
      <p:sp>
        <p:nvSpPr>
          <p:cNvPr id="3" name="Rectangle 1">
            <a:extLst>
              <a:ext uri="{FF2B5EF4-FFF2-40B4-BE49-F238E27FC236}">
                <a16:creationId xmlns:a16="http://schemas.microsoft.com/office/drawing/2014/main" id="{0136E4EA-5673-E33B-09CA-951548928AD6}"/>
              </a:ext>
            </a:extLst>
          </p:cNvPr>
          <p:cNvSpPr>
            <a:spLocks noChangeArrowheads="1"/>
          </p:cNvSpPr>
          <p:nvPr/>
        </p:nvSpPr>
        <p:spPr bwMode="auto">
          <a:xfrm>
            <a:off x="688259" y="1481364"/>
            <a:ext cx="10631214"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This project focuses on developing an automated system to detect hate speech in internet memes using multimodal deep learning techniques, with the aim of reducing manual moderation effort and improving content safety on social media platforms.</a:t>
            </a:r>
          </a:p>
          <a:p>
            <a:pPr marL="342900" lvl="0" indent="-342900" eaLnBrk="0" fontAlgn="base" hangingPunct="0">
              <a:spcBef>
                <a:spcPct val="0"/>
              </a:spcBef>
              <a:spcAft>
                <a:spcPct val="0"/>
              </a:spcAft>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proposed system analyzes both the image and embedded text in memes by using Vision Transformer (</a:t>
            </a:r>
            <a:r>
              <a:rPr lang="en-US" altLang="en-US" sz="2400" dirty="0" err="1">
                <a:latin typeface="Times New Roman" panose="02020603050405020304" pitchFamily="18" charset="0"/>
                <a:cs typeface="Times New Roman" panose="02020603050405020304" pitchFamily="18" charset="0"/>
              </a:rPr>
              <a:t>ViT</a:t>
            </a:r>
            <a:r>
              <a:rPr lang="en-US" altLang="en-US" sz="2400" dirty="0">
                <a:latin typeface="Times New Roman" panose="02020603050405020304" pitchFamily="18" charset="0"/>
                <a:cs typeface="Times New Roman" panose="02020603050405020304" pitchFamily="18" charset="0"/>
              </a:rPr>
              <a:t>) for visual feature extraction and </a:t>
            </a:r>
            <a:r>
              <a:rPr lang="en-US" altLang="en-US" sz="2400" dirty="0" err="1">
                <a:latin typeface="Times New Roman" panose="02020603050405020304" pitchFamily="18" charset="0"/>
                <a:cs typeface="Times New Roman" panose="02020603050405020304" pitchFamily="18" charset="0"/>
              </a:rPr>
              <a:t>XLNet</a:t>
            </a:r>
            <a:r>
              <a:rPr lang="en-US" altLang="en-US" sz="2400" dirty="0">
                <a:latin typeface="Times New Roman" panose="02020603050405020304" pitchFamily="18" charset="0"/>
                <a:cs typeface="Times New Roman" panose="02020603050405020304" pitchFamily="18" charset="0"/>
              </a:rPr>
              <a:t> for understanding textual context, enabling accurate identification of offensive and hateful content.</a:t>
            </a:r>
          </a:p>
          <a:p>
            <a:pPr marL="342900" lvl="0" indent="-342900" eaLnBrk="0" fontAlgn="base" hangingPunct="0">
              <a:spcBef>
                <a:spcPct val="0"/>
              </a:spcBef>
              <a:spcAft>
                <a:spcPct val="0"/>
              </a:spcAft>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system can be effectively used by social media platforms, content moderation teams, and online communities to provide a fast, accurate, and scalable solution for detecting hate speech in meme-based content.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E0E1AE6-920D-425F-A29A-D6A50D915E9A}">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Existing System</a:t>
            </a:r>
            <a:br>
              <a:rPr lang="en-US" sz="4400" dirty="0">
                <a:effectLst>
                  <a:outerShdw blurRad="38100" dist="38100" dir="2700000" algn="tl">
                    <a:srgbClr val="000000">
                      <a:alpha val="43137"/>
                    </a:srgbClr>
                  </a:outerShdw>
                </a:effectLst>
                <a:latin typeface="Times New Roman"/>
              </a:rPr>
            </a:br>
            <a:endParaRPr lang="en-US" sz="44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14935" y="0"/>
            <a:ext cx="1477065" cy="1251225"/>
          </a:xfrm>
          <a:prstGeom prst="rect">
            <a:avLst/>
          </a:prstGeom>
          <a:noFill/>
        </p:spPr>
      </p:pic>
      <p:sp>
        <p:nvSpPr>
          <p:cNvPr id="5" name="Rectangle 1">
            <a:extLst>
              <a:ext uri="{FF2B5EF4-FFF2-40B4-BE49-F238E27FC236}">
                <a16:creationId xmlns:a16="http://schemas.microsoft.com/office/drawing/2014/main" id="{C3A153DB-FDE9-2E33-01AA-FFAD74DFC16E}"/>
              </a:ext>
            </a:extLst>
          </p:cNvPr>
          <p:cNvSpPr>
            <a:spLocks noChangeArrowheads="1"/>
          </p:cNvSpPr>
          <p:nvPr/>
        </p:nvSpPr>
        <p:spPr bwMode="auto">
          <a:xfrm>
            <a:off x="374511" y="1595021"/>
            <a:ext cx="1109414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Manual Content Moderation:</a:t>
            </a:r>
          </a:p>
          <a:p>
            <a:pPr lvl="1"/>
            <a:r>
              <a:rPr lang="en-US" sz="2400" dirty="0">
                <a:latin typeface="Times New Roman" panose="02020603050405020304" pitchFamily="18" charset="0"/>
                <a:cs typeface="Times New Roman" panose="02020603050405020304" pitchFamily="18" charset="0"/>
              </a:rPr>
              <a:t>The existing system depends on human reviewers who manually examine memes by looking at images and reading the text to identify hateful or offensive content.</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Text-Based Detection:</a:t>
            </a:r>
          </a:p>
          <a:p>
            <a:pPr lvl="1"/>
            <a:r>
              <a:rPr lang="en-US" sz="2400" dirty="0">
                <a:latin typeface="Times New Roman" panose="02020603050405020304" pitchFamily="18" charset="0"/>
                <a:cs typeface="Times New Roman" panose="02020603050405020304" pitchFamily="18" charset="0"/>
              </a:rPr>
              <a:t>Most automated systems analyze only the textual part of memes and ignore visual information, which results in poor understanding of the actual message.</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Example :</a:t>
            </a:r>
          </a:p>
          <a:p>
            <a:pPr lvl="1"/>
            <a:r>
              <a:rPr lang="en-US" sz="2400" dirty="0">
                <a:latin typeface="Times New Roman" panose="02020603050405020304" pitchFamily="18" charset="0"/>
                <a:cs typeface="Times New Roman" panose="02020603050405020304" pitchFamily="18" charset="0"/>
              </a:rPr>
              <a:t>Platforms like Facebook (Meta), Instagram, Twitter (X), and Reddit already use automated content moderation systems to detect:</a:t>
            </a:r>
          </a:p>
          <a:p>
            <a:pPr lvl="1"/>
            <a:r>
              <a:rPr lang="en-US" sz="2400" dirty="0">
                <a:latin typeface="Times New Roman" panose="02020603050405020304" pitchFamily="18" charset="0"/>
                <a:cs typeface="Times New Roman" panose="02020603050405020304" pitchFamily="18" charset="0"/>
              </a:rPr>
              <a:t>Hate speech, Offensive language, Harassment, and Harmful visual content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53700-F877-44CC-C391-B189452E6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3B6A7-79A6-A461-1FC2-03F1E806AF89}"/>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Existing System Disadvantages</a:t>
            </a:r>
            <a:br>
              <a:rPr lang="en-US" sz="4400" dirty="0">
                <a:effectLst>
                  <a:outerShdw blurRad="38100" dist="38100" dir="2700000" algn="tl">
                    <a:srgbClr val="000000">
                      <a:alpha val="43137"/>
                    </a:srgbClr>
                  </a:outerShdw>
                </a:effectLst>
                <a:latin typeface="Times New Roman"/>
              </a:rPr>
            </a:br>
            <a:endParaRPr lang="en-US" sz="44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2AA09D5C-50F5-69B1-9FA4-3535A648FF85}"/>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14935" y="0"/>
            <a:ext cx="1477065" cy="1251225"/>
          </a:xfrm>
          <a:prstGeom prst="rect">
            <a:avLst/>
          </a:prstGeom>
          <a:noFill/>
        </p:spPr>
      </p:pic>
      <p:sp>
        <p:nvSpPr>
          <p:cNvPr id="5" name="Rectangle 1">
            <a:extLst>
              <a:ext uri="{FF2B5EF4-FFF2-40B4-BE49-F238E27FC236}">
                <a16:creationId xmlns:a16="http://schemas.microsoft.com/office/drawing/2014/main" id="{721F3AD6-8FA8-A934-B4E3-A9C16C253468}"/>
              </a:ext>
            </a:extLst>
          </p:cNvPr>
          <p:cNvSpPr>
            <a:spLocks noChangeArrowheads="1"/>
          </p:cNvSpPr>
          <p:nvPr/>
        </p:nvSpPr>
        <p:spPr bwMode="auto">
          <a:xfrm>
            <a:off x="614516" y="2059421"/>
            <a:ext cx="1051560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60000" lvl="0" indent="-342900" algn="just" eaLnBrk="0" fontAlgn="base" hangingPunct="0">
              <a:spcBef>
                <a:spcPct val="0"/>
              </a:spcBef>
              <a:spcAft>
                <a:spcPts val="60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Text-based systems fail to understand images, symbols, and gestures that change the meaning of meme content.</a:t>
            </a:r>
          </a:p>
          <a:p>
            <a:pPr marL="360000" lvl="0" indent="-342900" algn="just" eaLnBrk="0" fontAlgn="base" hangingPunct="0">
              <a:spcBef>
                <a:spcPct val="0"/>
              </a:spcBef>
              <a:spcAft>
                <a:spcPts val="60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Hateful memes with neutral text are often missed, leading to false negatives and poor detection accuracy.</a:t>
            </a:r>
          </a:p>
          <a:p>
            <a:pPr marL="360000" lvl="0" indent="-342900" algn="just" eaLnBrk="0" fontAlgn="base" hangingPunct="0">
              <a:spcBef>
                <a:spcPct val="0"/>
              </a:spcBef>
              <a:spcAft>
                <a:spcPts val="60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Human moderation is slow, costly, and depends on personal judgment, causing inconsistency and bias.</a:t>
            </a:r>
          </a:p>
          <a:p>
            <a:pPr marL="360000" lvl="0" indent="-342900" algn="just" eaLnBrk="0" fontAlgn="base" hangingPunct="0">
              <a:spcBef>
                <a:spcPct val="0"/>
              </a:spcBef>
              <a:spcAft>
                <a:spcPts val="60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system cannot handle the large and fast-growing volume of memes shared on social media platforms.</a:t>
            </a:r>
          </a:p>
          <a:p>
            <a:pPr marL="360000" lvl="0" indent="-342900" algn="just" eaLnBrk="0" fontAlgn="base" hangingPunct="0">
              <a:spcBef>
                <a:spcPct val="0"/>
              </a:spcBef>
              <a:spcAft>
                <a:spcPts val="60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Existing systems struggle with sarcasm, cultural references, and implicit hate present in memes.</a:t>
            </a:r>
          </a:p>
        </p:txBody>
      </p:sp>
    </p:spTree>
    <p:extLst>
      <p:ext uri="{BB962C8B-B14F-4D97-AF65-F5344CB8AC3E}">
        <p14:creationId xmlns:p14="http://schemas.microsoft.com/office/powerpoint/2010/main" val="998496918"/>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8D56C-2E2A-4290-E792-C5515924F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EFCCF-93C8-46E9-1455-5A296F470121}"/>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Proposed System</a:t>
            </a:r>
            <a:br>
              <a:rPr lang="en-US" sz="4400" dirty="0">
                <a:effectLst>
                  <a:outerShdw blurRad="38100" dist="38100" dir="2700000" algn="tl">
                    <a:srgbClr val="000000">
                      <a:alpha val="43137"/>
                    </a:srgbClr>
                  </a:outerShdw>
                </a:effectLst>
                <a:latin typeface="Times New Roman"/>
              </a:rPr>
            </a:br>
            <a:endParaRPr lang="en-US" sz="44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47393F10-DD0E-ABA2-27C1-BCC779A3EB2E}"/>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14935" y="0"/>
            <a:ext cx="1477065" cy="1251225"/>
          </a:xfrm>
          <a:prstGeom prst="rect">
            <a:avLst/>
          </a:prstGeom>
          <a:noFill/>
        </p:spPr>
      </p:pic>
      <p:sp>
        <p:nvSpPr>
          <p:cNvPr id="5" name="Rectangle 1">
            <a:extLst>
              <a:ext uri="{FF2B5EF4-FFF2-40B4-BE49-F238E27FC236}">
                <a16:creationId xmlns:a16="http://schemas.microsoft.com/office/drawing/2014/main" id="{D1230D8B-BD6A-1E93-5DD1-4F9299149BFF}"/>
              </a:ext>
            </a:extLst>
          </p:cNvPr>
          <p:cNvSpPr>
            <a:spLocks noChangeArrowheads="1"/>
          </p:cNvSpPr>
          <p:nvPr/>
        </p:nvSpPr>
        <p:spPr bwMode="auto">
          <a:xfrm>
            <a:off x="619432" y="2024620"/>
            <a:ext cx="1113994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proposed system introduces </a:t>
            </a:r>
            <a:r>
              <a:rPr lang="en-US" sz="2400" dirty="0" err="1">
                <a:latin typeface="Times New Roman" panose="02020603050405020304" pitchFamily="18" charset="0"/>
                <a:cs typeface="Times New Roman" panose="02020603050405020304" pitchFamily="18" charset="0"/>
              </a:rPr>
              <a:t>MemeSentinel</a:t>
            </a:r>
            <a:r>
              <a:rPr lang="en-US" sz="2400" dirty="0">
                <a:latin typeface="Times New Roman" panose="02020603050405020304" pitchFamily="18" charset="0"/>
                <a:cs typeface="Times New Roman" panose="02020603050405020304" pitchFamily="18" charset="0"/>
              </a:rPr>
              <a:t>-XT, an automated multimodal hate speech detection system that analyzes both the image and text present in memes.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uses Vision Transformer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to extract visual features from meme images and </a:t>
            </a:r>
            <a:r>
              <a:rPr lang="en-US" sz="2400" dirty="0" err="1">
                <a:latin typeface="Times New Roman" panose="02020603050405020304" pitchFamily="18" charset="0"/>
                <a:cs typeface="Times New Roman" panose="02020603050405020304" pitchFamily="18" charset="0"/>
              </a:rPr>
              <a:t>XLNet</a:t>
            </a:r>
            <a:r>
              <a:rPr lang="en-US" sz="2400" dirty="0">
                <a:latin typeface="Times New Roman" panose="02020603050405020304" pitchFamily="18" charset="0"/>
                <a:cs typeface="Times New Roman" panose="02020603050405020304" pitchFamily="18" charset="0"/>
              </a:rPr>
              <a:t> to understand the meaning and context of embedded text.</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By combining image and text features through a multimodal fusion and classification framework, the system accurately identifies hateful and offensive memes.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proposed approach provides a fast, scalable, and reliable solution suitable for real-time content moderation on social media platforms.</a:t>
            </a:r>
          </a:p>
        </p:txBody>
      </p:sp>
    </p:spTree>
    <p:extLst>
      <p:ext uri="{BB962C8B-B14F-4D97-AF65-F5344CB8AC3E}">
        <p14:creationId xmlns:p14="http://schemas.microsoft.com/office/powerpoint/2010/main" val="3435687415"/>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96A0E-9F38-3CDB-CBB8-23D5F767A3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34498-F0E1-3391-C5DC-752D09C87815}"/>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Proposed System Advantages</a:t>
            </a:r>
            <a:br>
              <a:rPr lang="en-US" sz="4400" dirty="0">
                <a:effectLst>
                  <a:outerShdw blurRad="38100" dist="38100" dir="2700000" algn="tl">
                    <a:srgbClr val="000000">
                      <a:alpha val="43137"/>
                    </a:srgbClr>
                  </a:outerShdw>
                </a:effectLst>
                <a:latin typeface="Times New Roman"/>
              </a:rPr>
            </a:br>
            <a:endParaRPr lang="en-US" sz="44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A55CAF50-C5DD-C868-8B1B-5CB3C76F7A59}"/>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14935" y="0"/>
            <a:ext cx="1477065" cy="1251225"/>
          </a:xfrm>
          <a:prstGeom prst="rect">
            <a:avLst/>
          </a:prstGeom>
          <a:noFill/>
        </p:spPr>
      </p:pic>
      <p:sp>
        <p:nvSpPr>
          <p:cNvPr id="5" name="Rectangle 1">
            <a:extLst>
              <a:ext uri="{FF2B5EF4-FFF2-40B4-BE49-F238E27FC236}">
                <a16:creationId xmlns:a16="http://schemas.microsoft.com/office/drawing/2014/main" id="{03AE6B21-577E-0B6F-8229-7CA460BE0C9A}"/>
              </a:ext>
            </a:extLst>
          </p:cNvPr>
          <p:cNvSpPr>
            <a:spLocks noChangeArrowheads="1"/>
          </p:cNvSpPr>
          <p:nvPr/>
        </p:nvSpPr>
        <p:spPr bwMode="auto">
          <a:xfrm>
            <a:off x="755073" y="2023738"/>
            <a:ext cx="1044632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Multimodal Analysis - </a:t>
            </a:r>
            <a:r>
              <a:rPr lang="en-US" sz="2400" dirty="0">
                <a:latin typeface="Times New Roman" panose="02020603050405020304" pitchFamily="18" charset="0"/>
                <a:cs typeface="Times New Roman" panose="02020603050405020304" pitchFamily="18" charset="0"/>
              </a:rPr>
              <a:t>The system analyzes both image and text, providing better understanding of meme content.</a:t>
            </a:r>
          </a:p>
          <a:p>
            <a:pPr marL="342900" indent="-342900">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Higher Accuracy - </a:t>
            </a:r>
            <a:r>
              <a:rPr lang="en-US" sz="2400" dirty="0">
                <a:latin typeface="Times New Roman" panose="02020603050405020304" pitchFamily="18" charset="0"/>
                <a:cs typeface="Times New Roman" panose="02020603050405020304" pitchFamily="18" charset="0"/>
              </a:rPr>
              <a:t>Combining visual and textual features reduces false detection and improves classification accuracy.</a:t>
            </a:r>
          </a:p>
          <a:p>
            <a:pPr marL="342900" indent="-342900">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Handles Hidden Hate - </a:t>
            </a:r>
            <a:r>
              <a:rPr lang="en-US" sz="2400" dirty="0">
                <a:latin typeface="Times New Roman" panose="02020603050405020304" pitchFamily="18" charset="0"/>
                <a:cs typeface="Times New Roman" panose="02020603050405020304" pitchFamily="18" charset="0"/>
              </a:rPr>
              <a:t>Effectively detects implicit, sarcastic, and context-based hate speech in memes.</a:t>
            </a:r>
          </a:p>
          <a:p>
            <a:pPr marL="342900" indent="-342900">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Reduced Human Effort - </a:t>
            </a:r>
            <a:r>
              <a:rPr lang="en-US" sz="2400" dirty="0">
                <a:latin typeface="Times New Roman" panose="02020603050405020304" pitchFamily="18" charset="0"/>
                <a:cs typeface="Times New Roman" panose="02020603050405020304" pitchFamily="18" charset="0"/>
              </a:rPr>
              <a:t>Minimizes the need for manual moderation and ensures consistent decision-making.</a:t>
            </a:r>
          </a:p>
        </p:txBody>
      </p:sp>
    </p:spTree>
    <p:extLst>
      <p:ext uri="{BB962C8B-B14F-4D97-AF65-F5344CB8AC3E}">
        <p14:creationId xmlns:p14="http://schemas.microsoft.com/office/powerpoint/2010/main" val="1837795224"/>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3345C-0C85-ED26-DB51-A3570577C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1FF50F-D8D8-F750-3EC2-877D69A9314D}"/>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normAutofit/>
          </a:bodyPr>
          <a:lstStyle/>
          <a:p>
            <a:pPr algn="ctr"/>
            <a:r>
              <a:rPr lang="en-US" sz="4000" b="1" dirty="0">
                <a:effectLst>
                  <a:outerShdw blurRad="38100" dist="38100" dir="2700000" algn="tl">
                    <a:srgbClr val="000000">
                      <a:alpha val="43137"/>
                    </a:srgbClr>
                  </a:outerShdw>
                </a:effectLst>
                <a:latin typeface="Times New Roman"/>
              </a:rPr>
              <a:t>Hardware and Software Requirements</a:t>
            </a:r>
            <a:br>
              <a:rPr lang="en-US" sz="4000" dirty="0">
                <a:effectLst>
                  <a:outerShdw blurRad="38100" dist="38100" dir="2700000" algn="tl">
                    <a:srgbClr val="000000">
                      <a:alpha val="43137"/>
                    </a:srgbClr>
                  </a:outerShdw>
                </a:effectLst>
                <a:latin typeface="Times New Roman"/>
              </a:rPr>
            </a:br>
            <a:endParaRPr lang="en-US" sz="40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E4D6F8F5-909C-9437-7262-FD07DE624CB9}"/>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14935" y="0"/>
            <a:ext cx="1477065" cy="1251225"/>
          </a:xfrm>
          <a:prstGeom prst="rect">
            <a:avLst/>
          </a:prstGeom>
          <a:noFill/>
        </p:spPr>
      </p:pic>
      <p:sp>
        <p:nvSpPr>
          <p:cNvPr id="5" name="Rectangle 1">
            <a:extLst>
              <a:ext uri="{FF2B5EF4-FFF2-40B4-BE49-F238E27FC236}">
                <a16:creationId xmlns:a16="http://schemas.microsoft.com/office/drawing/2014/main" id="{70E67DC4-F38C-8212-BE61-5163B9D4A593}"/>
              </a:ext>
            </a:extLst>
          </p:cNvPr>
          <p:cNvSpPr>
            <a:spLocks noChangeArrowheads="1"/>
          </p:cNvSpPr>
          <p:nvPr/>
        </p:nvSpPr>
        <p:spPr bwMode="auto">
          <a:xfrm>
            <a:off x="755073" y="2609794"/>
            <a:ext cx="534092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800" b="1" u="sng" dirty="0">
                <a:latin typeface="Times New Roman" panose="02020603050405020304" pitchFamily="18" charset="0"/>
                <a:cs typeface="Times New Roman" panose="02020603050405020304" pitchFamily="18" charset="0"/>
              </a:rPr>
              <a:t>Hardware Requirements:</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Processor: </a:t>
            </a:r>
            <a:r>
              <a:rPr lang="en-IN" sz="2400" dirty="0">
                <a:latin typeface="Times New Roman" panose="02020603050405020304" pitchFamily="18" charset="0"/>
                <a:cs typeface="Times New Roman" panose="02020603050405020304" pitchFamily="18" charset="0"/>
              </a:rPr>
              <a:t>Intel i5 or higher</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RAM: </a:t>
            </a:r>
            <a:r>
              <a:rPr lang="en-IN" sz="2400" dirty="0">
                <a:latin typeface="Times New Roman" panose="02020603050405020304" pitchFamily="18" charset="0"/>
                <a:cs typeface="Times New Roman" panose="02020603050405020304" pitchFamily="18" charset="0"/>
              </a:rPr>
              <a:t>Minimum 8 GB </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Storage: </a:t>
            </a:r>
            <a:r>
              <a:rPr lang="en-IN" sz="2400" dirty="0">
                <a:latin typeface="Times New Roman" panose="02020603050405020304" pitchFamily="18" charset="0"/>
                <a:cs typeface="Times New Roman" panose="02020603050405020304" pitchFamily="18" charset="0"/>
              </a:rPr>
              <a:t>512 GB SSD </a:t>
            </a:r>
          </a:p>
        </p:txBody>
      </p:sp>
      <p:sp>
        <p:nvSpPr>
          <p:cNvPr id="3" name="TextBox 2">
            <a:extLst>
              <a:ext uri="{FF2B5EF4-FFF2-40B4-BE49-F238E27FC236}">
                <a16:creationId xmlns:a16="http://schemas.microsoft.com/office/drawing/2014/main" id="{E23D29A8-61DC-01C2-A22D-587540EAA75F}"/>
              </a:ext>
            </a:extLst>
          </p:cNvPr>
          <p:cNvSpPr txBox="1"/>
          <p:nvPr/>
        </p:nvSpPr>
        <p:spPr>
          <a:xfrm>
            <a:off x="6164826" y="2609794"/>
            <a:ext cx="5860026" cy="2739211"/>
          </a:xfrm>
          <a:prstGeom prst="rect">
            <a:avLst/>
          </a:prstGeom>
          <a:noFill/>
        </p:spPr>
        <p:txBody>
          <a:bodyPr wrap="square" rtlCol="0">
            <a:spAutoFit/>
          </a:bodyPr>
          <a:lstStyle/>
          <a:p>
            <a:r>
              <a:rPr lang="en-IN" sz="2800" b="1" u="sng" dirty="0">
                <a:latin typeface="Times New Roman" panose="02020603050405020304" pitchFamily="18" charset="0"/>
                <a:cs typeface="Times New Roman" panose="02020603050405020304" pitchFamily="18" charset="0"/>
              </a:rPr>
              <a:t>Software</a:t>
            </a:r>
            <a:r>
              <a:rPr lang="en-IN" sz="2000" b="1" u="sng" dirty="0">
                <a:latin typeface="Times New Roman" panose="02020603050405020304" pitchFamily="18" charset="0"/>
                <a:cs typeface="Times New Roman" panose="02020603050405020304" pitchFamily="18" charset="0"/>
              </a:rPr>
              <a:t> Requirements:</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Operating System:</a:t>
            </a:r>
            <a:r>
              <a:rPr lang="en-IN" sz="2400" dirty="0">
                <a:latin typeface="Times New Roman" panose="02020603050405020304" pitchFamily="18" charset="0"/>
                <a:cs typeface="Times New Roman" panose="02020603050405020304" pitchFamily="18" charset="0"/>
              </a:rPr>
              <a:t> Windows / Linux</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Programming Language: </a:t>
            </a:r>
            <a:r>
              <a:rPr lang="en-IN" sz="2400" dirty="0">
                <a:latin typeface="Times New Roman" panose="02020603050405020304" pitchFamily="18" charset="0"/>
                <a:cs typeface="Times New Roman" panose="02020603050405020304" pitchFamily="18" charset="0"/>
              </a:rPr>
              <a:t>Python</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Frameworks: </a:t>
            </a:r>
            <a:r>
              <a:rPr lang="en-IN" sz="2400" dirty="0" err="1">
                <a:latin typeface="Times New Roman" panose="02020603050405020304" pitchFamily="18" charset="0"/>
                <a:cs typeface="Times New Roman" panose="02020603050405020304" pitchFamily="18" charset="0"/>
              </a:rPr>
              <a:t>PyTorch</a:t>
            </a:r>
            <a:r>
              <a:rPr lang="en-IN" sz="2400" dirty="0">
                <a:latin typeface="Times New Roman" panose="02020603050405020304" pitchFamily="18" charset="0"/>
                <a:cs typeface="Times New Roman" panose="02020603050405020304" pitchFamily="18" charset="0"/>
              </a:rPr>
              <a:t>, Transformers</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Libraries: </a:t>
            </a:r>
            <a:r>
              <a:rPr lang="en-IN" sz="2400" dirty="0">
                <a:latin typeface="Times New Roman" panose="02020603050405020304" pitchFamily="18" charset="0"/>
                <a:cs typeface="Times New Roman" panose="02020603050405020304" pitchFamily="18" charset="0"/>
              </a:rPr>
              <a:t>OpenCV, NLTK, Scikit-learn</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Development Tools:</a:t>
            </a:r>
            <a:r>
              <a:rPr lang="en-IN" sz="2400" dirty="0">
                <a:latin typeface="Times New Roman" panose="02020603050405020304" pitchFamily="18" charset="0"/>
                <a:cs typeface="Times New Roman" panose="02020603050405020304" pitchFamily="18" charset="0"/>
              </a:rPr>
              <a:t> </a:t>
            </a:r>
            <a:r>
              <a:rPr lang="en-IN" sz="2400">
                <a:latin typeface="Times New Roman" panose="02020603050405020304" pitchFamily="18" charset="0"/>
                <a:cs typeface="Times New Roman" panose="02020603050405020304" pitchFamily="18" charset="0"/>
              </a:rPr>
              <a:t>VS Code / Jupyter</a:t>
            </a:r>
            <a:r>
              <a:rPr lang="en-IN" sz="2400" dirty="0">
                <a:latin typeface="Times New Roman" panose="02020603050405020304" pitchFamily="18" charset="0"/>
                <a:cs typeface="Times New Roman" panose="02020603050405020304" pitchFamily="18" charset="0"/>
              </a:rPr>
              <a:t> Notebook</a:t>
            </a:r>
          </a:p>
        </p:txBody>
      </p:sp>
    </p:spTree>
    <p:extLst>
      <p:ext uri="{BB962C8B-B14F-4D97-AF65-F5344CB8AC3E}">
        <p14:creationId xmlns:p14="http://schemas.microsoft.com/office/powerpoint/2010/main" val="1775769096"/>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DE4EF-3318-97C8-C2B0-272E6185D0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2D080-0926-B7A8-CAC4-0CD2004ECCBB}"/>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Novelty</a:t>
            </a:r>
          </a:p>
        </p:txBody>
      </p:sp>
      <p:pic>
        <p:nvPicPr>
          <p:cNvPr id="4" name="Picture 3" descr="A logo with a flower&#10;&#10;Description automatically generated">
            <a:extLst>
              <a:ext uri="{FF2B5EF4-FFF2-40B4-BE49-F238E27FC236}">
                <a16:creationId xmlns:a16="http://schemas.microsoft.com/office/drawing/2014/main" id="{A8532B0D-C2A9-1A83-464F-9A2332C92BEE}"/>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14935" y="0"/>
            <a:ext cx="1477065" cy="1251225"/>
          </a:xfrm>
          <a:prstGeom prst="rect">
            <a:avLst/>
          </a:prstGeom>
          <a:noFill/>
        </p:spPr>
      </p:pic>
      <p:sp>
        <p:nvSpPr>
          <p:cNvPr id="5" name="Rectangle 1">
            <a:extLst>
              <a:ext uri="{FF2B5EF4-FFF2-40B4-BE49-F238E27FC236}">
                <a16:creationId xmlns:a16="http://schemas.microsoft.com/office/drawing/2014/main" id="{DF124FDA-01E4-9163-59AE-CA815F789E15}"/>
              </a:ext>
            </a:extLst>
          </p:cNvPr>
          <p:cNvSpPr>
            <a:spLocks noChangeArrowheads="1"/>
          </p:cNvSpPr>
          <p:nvPr/>
        </p:nvSpPr>
        <p:spPr bwMode="auto">
          <a:xfrm>
            <a:off x="755073" y="2208404"/>
            <a:ext cx="1044632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400" dirty="0">
                <a:latin typeface="Times New Roman" panose="02020603050405020304" pitchFamily="18" charset="0"/>
                <a:cs typeface="Times New Roman" panose="02020603050405020304" pitchFamily="18" charset="0"/>
              </a:rPr>
              <a:t>This project introduces a multimodal hate speech detection system that analyzes both image and text in memes, overcoming the limitations of traditional text-only approaches.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uses advanced transformer models such as Vision Transformer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for image understanding and </a:t>
            </a:r>
            <a:r>
              <a:rPr lang="en-US" sz="2400" dirty="0" err="1">
                <a:latin typeface="Times New Roman" panose="02020603050405020304" pitchFamily="18" charset="0"/>
                <a:cs typeface="Times New Roman" panose="02020603050405020304" pitchFamily="18" charset="0"/>
              </a:rPr>
              <a:t>XLNet</a:t>
            </a:r>
            <a:r>
              <a:rPr lang="en-US" sz="2400" dirty="0">
                <a:latin typeface="Times New Roman" panose="02020603050405020304" pitchFamily="18" charset="0"/>
                <a:cs typeface="Times New Roman" panose="02020603050405020304" pitchFamily="18" charset="0"/>
              </a:rPr>
              <a:t> for capturing deep textual context and meaning.</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proposed system provides a more accurate, scalable, and context-aware solution for detecting hidden and implicit hate speech in real-world social media memes.</a:t>
            </a:r>
          </a:p>
        </p:txBody>
      </p:sp>
    </p:spTree>
    <p:extLst>
      <p:ext uri="{BB962C8B-B14F-4D97-AF65-F5344CB8AC3E}">
        <p14:creationId xmlns:p14="http://schemas.microsoft.com/office/powerpoint/2010/main" val="478098740"/>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Generated image">
            <a:extLst>
              <a:ext uri="{FF2B5EF4-FFF2-40B4-BE49-F238E27FC236}">
                <a16:creationId xmlns:a16="http://schemas.microsoft.com/office/drawing/2014/main" id="{0589DE3D-E177-26DB-C03A-1A5EBA01D63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12BF5CB3-6AE8-2D35-CABB-54D2E54B2FCB}"/>
              </a:ext>
            </a:extLst>
          </p:cNvPr>
          <p:cNvSpPr txBox="1"/>
          <p:nvPr/>
        </p:nvSpPr>
        <p:spPr>
          <a:xfrm>
            <a:off x="952500" y="92978"/>
            <a:ext cx="9982200" cy="707886"/>
          </a:xfrm>
          <a:prstGeom prst="rect">
            <a:avLst/>
          </a:prstGeom>
          <a:noFill/>
        </p:spPr>
        <p:txBody>
          <a:bodyPr wrap="square">
            <a:spAutoFit/>
          </a:bodyPr>
          <a:lstStyle/>
          <a:p>
            <a:pPr algn="ctr"/>
            <a:r>
              <a:rPr lang="en-US" sz="4000" b="1" dirty="0">
                <a:effectLst>
                  <a:outerShdw blurRad="38100" dist="38100" dir="2700000" algn="tl">
                    <a:srgbClr val="000000">
                      <a:alpha val="43137"/>
                    </a:srgbClr>
                  </a:outerShdw>
                </a:effectLst>
                <a:latin typeface="Times New Roman" panose="02020603050405020304"/>
                <a:cs typeface="Arial" panose="020B0604020202020204"/>
              </a:rPr>
              <a:t>System Architecture</a:t>
            </a:r>
            <a:endParaRPr lang="en-IN" sz="4000" b="1" dirty="0">
              <a:effectLst>
                <a:outerShdw blurRad="38100" dist="38100" dir="2700000" algn="tl">
                  <a:srgbClr val="000000">
                    <a:alpha val="43137"/>
                  </a:srgbClr>
                </a:outerShdw>
              </a:effectLst>
            </a:endParaRPr>
          </a:p>
        </p:txBody>
      </p:sp>
      <p:pic>
        <p:nvPicPr>
          <p:cNvPr id="10" name="Picture 9" descr="A logo with a flower&#10;&#10;Description automatically generated">
            <a:extLst>
              <a:ext uri="{FF2B5EF4-FFF2-40B4-BE49-F238E27FC236}">
                <a16:creationId xmlns:a16="http://schemas.microsoft.com/office/drawing/2014/main" id="{99FB0305-E922-9ADB-D9B3-F72743724F52}"/>
              </a:ext>
              <a:ext uri="{E8B4546A-F777-4DEB-B59E-F60E40FD9A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DF0B4D7-AE2D-47EB-A9EF-505F3CA6417E}"/>
              </a:ext>
            </a:extLst>
          </p:cNvPr>
          <p:cNvPicPr>
            <a:picLocks noGrp="1" noChangeAspect="1"/>
          </p:cNvPicPr>
          <p:nvPr/>
        </p:nvPicPr>
        <p:blipFill>
          <a:blip r:embed="rId2"/>
          <a:stretch>
            <a:fillRect/>
          </a:stretch>
        </p:blipFill>
        <p:spPr>
          <a:xfrm>
            <a:off x="10714935" y="0"/>
            <a:ext cx="1477065" cy="1251225"/>
          </a:xfrm>
          <a:prstGeom prst="rect">
            <a:avLst/>
          </a:prstGeom>
          <a:noFill/>
        </p:spPr>
      </p:pic>
      <p:pic>
        <p:nvPicPr>
          <p:cNvPr id="1028" name="Picture 1">
            <a:extLst>
              <a:ext uri="{FF2B5EF4-FFF2-40B4-BE49-F238E27FC236}">
                <a16:creationId xmlns:a16="http://schemas.microsoft.com/office/drawing/2014/main" id="{A10FC19D-B3F7-65F8-A5CE-85CF424CDB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516" y="1543666"/>
            <a:ext cx="11267767" cy="464164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8984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E9F64-2A6F-F936-C5EF-AB6032CD2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FE756-F3B6-2584-8D59-79E81FB9BB4E}"/>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Modules</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229C048B-99F0-C009-B5AE-FEA9D5994E44}"/>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14935" y="0"/>
            <a:ext cx="1477065" cy="1251225"/>
          </a:xfrm>
          <a:prstGeom prst="rect">
            <a:avLst/>
          </a:prstGeom>
          <a:noFill/>
        </p:spPr>
      </p:pic>
      <p:sp>
        <p:nvSpPr>
          <p:cNvPr id="5" name="Rectangle 1">
            <a:extLst>
              <a:ext uri="{FF2B5EF4-FFF2-40B4-BE49-F238E27FC236}">
                <a16:creationId xmlns:a16="http://schemas.microsoft.com/office/drawing/2014/main" id="{D0FD459A-16B7-F465-0439-E52D455AA75E}"/>
              </a:ext>
            </a:extLst>
          </p:cNvPr>
          <p:cNvSpPr>
            <a:spLocks noChangeArrowheads="1"/>
          </p:cNvSpPr>
          <p:nvPr/>
        </p:nvSpPr>
        <p:spPr bwMode="auto">
          <a:xfrm>
            <a:off x="570271" y="1654407"/>
            <a:ext cx="1063113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Data Acquisition &amp; Preprocessing:</a:t>
            </a:r>
          </a:p>
          <a:p>
            <a:pPr lvl="1"/>
            <a:r>
              <a:rPr lang="en-US" sz="2400" dirty="0">
                <a:latin typeface="Times New Roman" panose="02020603050405020304" pitchFamily="18" charset="0"/>
                <a:cs typeface="Times New Roman" panose="02020603050405020304" pitchFamily="18" charset="0"/>
              </a:rPr>
              <a:t>This module collects meme images and extracts embedded text using OCR(Optical Character Recognition). Both image and text data are cleaned, resized, and normalized for further processing.</a:t>
            </a:r>
          </a:p>
          <a:p>
            <a:pPr marL="342900" indent="-342900">
              <a:buFont typeface="Wingdings" panose="05000000000000000000" pitchFamily="2" charset="2"/>
              <a:buChar char="v"/>
            </a:pP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Feature Extraction:</a:t>
            </a:r>
          </a:p>
          <a:p>
            <a:pPr lvl="1"/>
            <a:r>
              <a:rPr lang="en-US" sz="2400" dirty="0">
                <a:latin typeface="Times New Roman" panose="02020603050405020304" pitchFamily="18" charset="0"/>
                <a:cs typeface="Times New Roman" panose="02020603050405020304" pitchFamily="18" charset="0"/>
              </a:rPr>
              <a:t>Visual features are extracted using Vision Transformer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while textual features are generated using </a:t>
            </a:r>
            <a:r>
              <a:rPr lang="en-US" sz="2400" dirty="0" err="1">
                <a:latin typeface="Times New Roman" panose="02020603050405020304" pitchFamily="18" charset="0"/>
                <a:cs typeface="Times New Roman" panose="02020603050405020304" pitchFamily="18" charset="0"/>
              </a:rPr>
              <a:t>XLNet</a:t>
            </a:r>
            <a:r>
              <a:rPr lang="en-US" sz="2400" dirty="0">
                <a:latin typeface="Times New Roman" panose="02020603050405020304" pitchFamily="18" charset="0"/>
                <a:cs typeface="Times New Roman" panose="02020603050405020304" pitchFamily="18" charset="0"/>
              </a:rPr>
              <a:t> to understand the meaning and context of meme text.</a:t>
            </a:r>
          </a:p>
          <a:p>
            <a:pPr marL="342900" indent="-342900">
              <a:buFont typeface="Wingdings" panose="05000000000000000000" pitchFamily="2" charset="2"/>
              <a:buChar char="v"/>
            </a:pP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Multimodal Fusion &amp; Classification:</a:t>
            </a:r>
          </a:p>
          <a:p>
            <a:pPr lvl="1"/>
            <a:r>
              <a:rPr lang="en-US" sz="2400" dirty="0">
                <a:latin typeface="Times New Roman" panose="02020603050405020304" pitchFamily="18" charset="0"/>
                <a:cs typeface="Times New Roman" panose="02020603050405020304" pitchFamily="18" charset="0"/>
              </a:rPr>
              <a:t>The extracted image and text features are combined and classified to identify whether a meme contains hate speech or non-hateful content.</a:t>
            </a:r>
          </a:p>
        </p:txBody>
      </p:sp>
    </p:spTree>
    <p:extLst>
      <p:ext uri="{BB962C8B-B14F-4D97-AF65-F5344CB8AC3E}">
        <p14:creationId xmlns:p14="http://schemas.microsoft.com/office/powerpoint/2010/main" val="1100335140"/>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69FD68-C12E-89A1-E129-759F39714272}"/>
              </a:ext>
            </a:extLst>
          </p:cNvPr>
          <p:cNvSpPr txBox="1"/>
          <p:nvPr/>
        </p:nvSpPr>
        <p:spPr>
          <a:xfrm>
            <a:off x="366919" y="76200"/>
            <a:ext cx="4128881" cy="1077218"/>
          </a:xfrm>
          <a:prstGeom prst="rect">
            <a:avLst/>
          </a:prstGeom>
          <a:noFill/>
        </p:spPr>
        <p:txBody>
          <a:bodyPr wrap="square" rtlCol="0">
            <a:spAutoFit/>
          </a:bodyPr>
          <a:lstStyle/>
          <a:p>
            <a:r>
              <a:rPr lang="en-US" sz="3200" b="1" dirty="0">
                <a:effectLst>
                  <a:outerShdw blurRad="38100" dist="38100" dir="2700000" algn="tl">
                    <a:srgbClr val="000000">
                      <a:alpha val="43137"/>
                    </a:srgbClr>
                  </a:outerShdw>
                </a:effectLst>
                <a:latin typeface="Times New Roman" panose="02020603050405020304"/>
                <a:cs typeface="Arial" panose="020B0604020202020204"/>
              </a:rPr>
              <a:t>UML DIAGRAMS:</a:t>
            </a:r>
            <a:endPar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IN"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 case Diagram</a:t>
            </a:r>
            <a:endPar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8" name="Picture 7" descr="A logo with a flower&#10;&#10;Description automatically generated">
            <a:extLst>
              <a:ext uri="{FF2B5EF4-FFF2-40B4-BE49-F238E27FC236}">
                <a16:creationId xmlns:a16="http://schemas.microsoft.com/office/drawing/2014/main" id="{CDFB93A5-0B3C-0058-15E2-A081EA97BD00}"/>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2"/>
          <a:stretch>
            <a:fillRect/>
          </a:stretch>
        </p:blipFill>
        <p:spPr>
          <a:xfrm>
            <a:off x="10714935" y="0"/>
            <a:ext cx="1477065" cy="1251225"/>
          </a:xfrm>
          <a:prstGeom prst="rect">
            <a:avLst/>
          </a:prstGeom>
          <a:noFill/>
        </p:spPr>
      </p:pic>
      <p:pic>
        <p:nvPicPr>
          <p:cNvPr id="2050" name="Picture 2">
            <a:extLst>
              <a:ext uri="{FF2B5EF4-FFF2-40B4-BE49-F238E27FC236}">
                <a16:creationId xmlns:a16="http://schemas.microsoft.com/office/drawing/2014/main" id="{0F5E1F64-C658-184B-A6F3-130154786F8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813"/>
          <a:stretch>
            <a:fillRect/>
          </a:stretch>
        </p:blipFill>
        <p:spPr bwMode="auto">
          <a:xfrm>
            <a:off x="183459" y="1860755"/>
            <a:ext cx="11825081" cy="3136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4834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3A2B1-0658-3495-A0A9-FE445EDC0FF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B3E8731-E620-FE7E-EDB3-5D5072E25270}"/>
              </a:ext>
            </a:extLst>
          </p:cNvPr>
          <p:cNvSpPr txBox="1"/>
          <p:nvPr/>
        </p:nvSpPr>
        <p:spPr>
          <a:xfrm>
            <a:off x="366919" y="76200"/>
            <a:ext cx="4128881" cy="646331"/>
          </a:xfrm>
          <a:prstGeom prst="rect">
            <a:avLst/>
          </a:prstGeom>
          <a:noFill/>
        </p:spPr>
        <p:txBody>
          <a:bodyPr wrap="square" rtlCol="0">
            <a:spAutoFit/>
          </a:bodyPr>
          <a:lstStyle/>
          <a:p>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 Diagram</a:t>
            </a:r>
          </a:p>
        </p:txBody>
      </p:sp>
      <p:pic>
        <p:nvPicPr>
          <p:cNvPr id="8" name="Picture 7" descr="A logo with a flower&#10;&#10;Description automatically generated">
            <a:extLst>
              <a:ext uri="{FF2B5EF4-FFF2-40B4-BE49-F238E27FC236}">
                <a16:creationId xmlns:a16="http://schemas.microsoft.com/office/drawing/2014/main" id="{AA974DB2-E392-E82D-D377-4E29DB654BE6}"/>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2"/>
          <a:stretch>
            <a:fillRect/>
          </a:stretch>
        </p:blipFill>
        <p:spPr>
          <a:xfrm>
            <a:off x="10714935" y="0"/>
            <a:ext cx="1477065" cy="1251225"/>
          </a:xfrm>
          <a:prstGeom prst="rect">
            <a:avLst/>
          </a:prstGeom>
          <a:noFill/>
        </p:spPr>
      </p:pic>
      <p:pic>
        <p:nvPicPr>
          <p:cNvPr id="1026" name="Picture 2" descr="PlantUML diagram">
            <a:extLst>
              <a:ext uri="{FF2B5EF4-FFF2-40B4-BE49-F238E27FC236}">
                <a16:creationId xmlns:a16="http://schemas.microsoft.com/office/drawing/2014/main" id="{5D52D1DE-4913-CAAA-E20F-2E5429C785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4388" y="0"/>
            <a:ext cx="369370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291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04116-8559-81D8-8E54-88A838697FFC}"/>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BC11DE66-41B8-3E90-F47E-474FD33B16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61"/>
          <a:stretch>
            <a:fillRect/>
          </a:stretch>
        </p:blipFill>
        <p:spPr bwMode="auto">
          <a:xfrm>
            <a:off x="784666" y="1463914"/>
            <a:ext cx="10622668" cy="492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D158477-E432-B57D-5440-8E7EE604A05A}"/>
              </a:ext>
            </a:extLst>
          </p:cNvPr>
          <p:cNvSpPr txBox="1"/>
          <p:nvPr/>
        </p:nvSpPr>
        <p:spPr>
          <a:xfrm>
            <a:off x="366919" y="76200"/>
            <a:ext cx="4128881" cy="646331"/>
          </a:xfrm>
          <a:prstGeom prst="rect">
            <a:avLst/>
          </a:prstGeom>
          <a:noFill/>
        </p:spPr>
        <p:txBody>
          <a:bodyPr wrap="square" rtlCol="0">
            <a:spAutoFit/>
          </a:bodyPr>
          <a:lstStyle/>
          <a:p>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Sequence Diagram</a:t>
            </a:r>
          </a:p>
        </p:txBody>
      </p:sp>
      <p:pic>
        <p:nvPicPr>
          <p:cNvPr id="8" name="Picture 7" descr="A logo with a flower&#10;&#10;Description automatically generated">
            <a:extLst>
              <a:ext uri="{FF2B5EF4-FFF2-40B4-BE49-F238E27FC236}">
                <a16:creationId xmlns:a16="http://schemas.microsoft.com/office/drawing/2014/main" id="{E2E7A8CA-DBC4-822E-EB88-D3672009CDDF}"/>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3"/>
          <a:stretch>
            <a:fillRect/>
          </a:stretch>
        </p:blipFill>
        <p:spPr>
          <a:xfrm>
            <a:off x="10714935" y="0"/>
            <a:ext cx="1477065" cy="1251225"/>
          </a:xfrm>
          <a:prstGeom prst="rect">
            <a:avLst/>
          </a:prstGeom>
          <a:noFill/>
        </p:spPr>
      </p:pic>
    </p:spTree>
    <p:extLst>
      <p:ext uri="{BB962C8B-B14F-4D97-AF65-F5344CB8AC3E}">
        <p14:creationId xmlns:p14="http://schemas.microsoft.com/office/powerpoint/2010/main" val="1677913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D9D0B-1A80-D70A-A364-BFD748AA93C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2E1C98-A126-49B2-14A4-0B2CD716A2C0}"/>
              </a:ext>
            </a:extLst>
          </p:cNvPr>
          <p:cNvSpPr txBox="1"/>
          <p:nvPr/>
        </p:nvSpPr>
        <p:spPr>
          <a:xfrm>
            <a:off x="366919" y="76200"/>
            <a:ext cx="4128881" cy="646331"/>
          </a:xfrm>
          <a:prstGeom prst="rect">
            <a:avLst/>
          </a:prstGeom>
          <a:noFill/>
        </p:spPr>
        <p:txBody>
          <a:bodyPr wrap="square" rtlCol="0">
            <a:spAutoFit/>
          </a:bodyPr>
          <a:lstStyle/>
          <a:p>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Activity Diagram</a:t>
            </a:r>
          </a:p>
        </p:txBody>
      </p:sp>
      <p:pic>
        <p:nvPicPr>
          <p:cNvPr id="8" name="Picture 7" descr="A logo with a flower&#10;&#10;Description automatically generated">
            <a:extLst>
              <a:ext uri="{FF2B5EF4-FFF2-40B4-BE49-F238E27FC236}">
                <a16:creationId xmlns:a16="http://schemas.microsoft.com/office/drawing/2014/main" id="{6904FEB9-DA30-861A-D501-BDEDB38E8FF3}"/>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2"/>
          <a:stretch>
            <a:fillRect/>
          </a:stretch>
        </p:blipFill>
        <p:spPr>
          <a:xfrm>
            <a:off x="10714935" y="0"/>
            <a:ext cx="1477065" cy="1251225"/>
          </a:xfrm>
          <a:prstGeom prst="rect">
            <a:avLst/>
          </a:prstGeom>
          <a:noFill/>
        </p:spPr>
      </p:pic>
      <p:pic>
        <p:nvPicPr>
          <p:cNvPr id="5122" name="Picture 2">
            <a:extLst>
              <a:ext uri="{FF2B5EF4-FFF2-40B4-BE49-F238E27FC236}">
                <a16:creationId xmlns:a16="http://schemas.microsoft.com/office/drawing/2014/main" id="{1A15BC0F-E7E2-A0B1-069C-2A2D8F93C8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070"/>
          <a:stretch>
            <a:fillRect/>
          </a:stretch>
        </p:blipFill>
        <p:spPr bwMode="auto">
          <a:xfrm>
            <a:off x="4495800" y="538316"/>
            <a:ext cx="5641258" cy="6243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171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843994-7F60-D1A6-475F-181822F079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4532" y="254000"/>
            <a:ext cx="8682935" cy="6350000"/>
          </a:xfrm>
          <a:prstGeom prst="rect">
            <a:avLst/>
          </a:prstGeom>
        </p:spPr>
      </p:pic>
      <p:pic>
        <p:nvPicPr>
          <p:cNvPr id="6" name="Picture 5" descr="A logo with a flower&#10;&#10;Description automatically generated">
            <a:extLst>
              <a:ext uri="{FF2B5EF4-FFF2-40B4-BE49-F238E27FC236}">
                <a16:creationId xmlns:a16="http://schemas.microsoft.com/office/drawing/2014/main" id="{F4F82E45-FE50-A330-5E0A-9BF93DAEEBFB}"/>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3"/>
          <a:stretch>
            <a:fillRect/>
          </a:stretch>
        </p:blipFill>
        <p:spPr>
          <a:xfrm>
            <a:off x="10714935" y="0"/>
            <a:ext cx="1477065" cy="1251225"/>
          </a:xfrm>
          <a:prstGeom prst="rect">
            <a:avLst/>
          </a:prstGeom>
          <a:noFill/>
        </p:spPr>
      </p:pic>
    </p:spTree>
    <p:extLst>
      <p:ext uri="{BB962C8B-B14F-4D97-AF65-F5344CB8AC3E}">
        <p14:creationId xmlns:p14="http://schemas.microsoft.com/office/powerpoint/2010/main" val="41236994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831</Words>
  <Application>Microsoft Office PowerPoint</Application>
  <PresentationFormat>Widescreen</PresentationFormat>
  <Paragraphs>92</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CMR Technical Campus Department of Information Technology </vt:lpstr>
      <vt:lpstr>Index</vt:lpstr>
      <vt:lpstr>Introduction &amp; Overview</vt:lpstr>
      <vt:lpstr>Existing System </vt:lpstr>
      <vt:lpstr>Existing System Disadvantages </vt:lpstr>
      <vt:lpstr>Proposed System </vt:lpstr>
      <vt:lpstr>Proposed System Advantages </vt:lpstr>
      <vt:lpstr>Hardware and Software Requirements </vt:lpstr>
      <vt:lpstr>Novelty</vt:lpstr>
      <vt:lpstr>PowerPoint Presentation</vt:lpstr>
      <vt:lpstr>Modules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CMR Technical Campus Department of Information Technology</dc:title>
  <dc:creator>PARVEZ ALI</dc:creator>
  <cp:lastModifiedBy>iamparvezali085@gmail.com</cp:lastModifiedBy>
  <cp:revision>8</cp:revision>
  <dcterms:created xsi:type="dcterms:W3CDTF">2026-01-29T05:07:56Z</dcterms:created>
  <dcterms:modified xsi:type="dcterms:W3CDTF">2026-02-03T05:09:56Z</dcterms:modified>
</cp:coreProperties>
</file>